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13" d="100"/>
          <a:sy n="113" d="100"/>
        </p:scale>
        <p:origin x="61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5356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24A"/>
          </a:solidFill>
          <a:ln w="12700">
            <a:solidFill>
              <a:srgbClr val="E8724A"/>
            </a:solidFill>
            <a:prstDash val="solid"/>
          </a:ln>
        </p:spPr>
      </p:sp>
      <p:sp>
        <p:nvSpPr>
          <p:cNvPr id="3" name="Shape 1"/>
          <p:cNvSpPr/>
          <p:nvPr/>
        </p:nvSpPr>
        <p:spPr>
          <a:xfrm>
            <a:off x="5852160" y="1554480"/>
            <a:ext cx="2560320" cy="1005840"/>
          </a:xfrm>
          <a:prstGeom prst="rect">
            <a:avLst/>
          </a:prstGeom>
          <a:solidFill>
            <a:srgbClr val="F0956F"/>
          </a:solidFill>
          <a:ln w="12700">
            <a:solidFill>
              <a:srgbClr val="F0956F"/>
            </a:solidFill>
            <a:prstDash val="solid"/>
          </a:ln>
        </p:spPr>
      </p:sp>
      <p:sp>
        <p:nvSpPr>
          <p:cNvPr id="4" name="Shape 2"/>
          <p:cNvSpPr/>
          <p:nvPr/>
        </p:nvSpPr>
        <p:spPr>
          <a:xfrm>
            <a:off x="6217920" y="1005840"/>
            <a:ext cx="1737360" cy="640080"/>
          </a:xfrm>
          <a:prstGeom prst="rect">
            <a:avLst/>
          </a:prstGeom>
          <a:solidFill>
            <a:srgbClr val="E8724A"/>
          </a:solidFill>
          <a:ln w="12700">
            <a:solidFill>
              <a:srgbClr val="E8724A"/>
            </a:solidFill>
            <a:prstDash val="solid"/>
          </a:ln>
        </p:spPr>
      </p:sp>
      <p:sp>
        <p:nvSpPr>
          <p:cNvPr id="5" name="Shape 3"/>
          <p:cNvSpPr/>
          <p:nvPr/>
        </p:nvSpPr>
        <p:spPr>
          <a:xfrm>
            <a:off x="5989320" y="2423160"/>
            <a:ext cx="502920" cy="502920"/>
          </a:xfrm>
          <a:prstGeom prst="ellipse">
            <a:avLst/>
          </a:prstGeom>
          <a:solidFill>
            <a:srgbClr val="2C3E50"/>
          </a:solidFill>
          <a:ln w="12700">
            <a:solidFill>
              <a:srgbClr val="2C3E50"/>
            </a:solidFill>
            <a:prstDash val="solid"/>
          </a:ln>
        </p:spPr>
      </p:sp>
      <p:sp>
        <p:nvSpPr>
          <p:cNvPr id="6" name="Shape 4"/>
          <p:cNvSpPr/>
          <p:nvPr/>
        </p:nvSpPr>
        <p:spPr>
          <a:xfrm>
            <a:off x="7772400" y="2423160"/>
            <a:ext cx="502920" cy="502920"/>
          </a:xfrm>
          <a:prstGeom prst="ellipse">
            <a:avLst/>
          </a:prstGeom>
          <a:solidFill>
            <a:srgbClr val="2C3E50"/>
          </a:solidFill>
          <a:ln w="12700">
            <a:solidFill>
              <a:srgbClr val="2C3E50"/>
            </a:solidFill>
            <a:prstDash val="solid"/>
          </a:ln>
        </p:spPr>
      </p:sp>
      <p:sp>
        <p:nvSpPr>
          <p:cNvPr id="7" name="Shape 5"/>
          <p:cNvSpPr/>
          <p:nvPr/>
        </p:nvSpPr>
        <p:spPr>
          <a:xfrm>
            <a:off x="6309360" y="1078992"/>
            <a:ext cx="685800" cy="475488"/>
          </a:xfrm>
          <a:prstGeom prst="rect">
            <a:avLst/>
          </a:prstGeom>
          <a:solidFill>
            <a:srgbClr val="B0C4DE"/>
          </a:solidFill>
          <a:ln w="12700">
            <a:solidFill>
              <a:srgbClr val="B0C4DE"/>
            </a:solidFill>
            <a:prstDash val="solid"/>
          </a:ln>
        </p:spPr>
      </p:sp>
      <p:sp>
        <p:nvSpPr>
          <p:cNvPr id="8" name="Shape 6"/>
          <p:cNvSpPr/>
          <p:nvPr/>
        </p:nvSpPr>
        <p:spPr>
          <a:xfrm>
            <a:off x="7086600" y="1078992"/>
            <a:ext cx="685800" cy="475488"/>
          </a:xfrm>
          <a:prstGeom prst="rect">
            <a:avLst/>
          </a:prstGeom>
          <a:solidFill>
            <a:srgbClr val="B0C4DE"/>
          </a:solidFill>
          <a:ln w="12700">
            <a:solidFill>
              <a:srgbClr val="B0C4DE"/>
            </a:solidFill>
            <a:prstDash val="solid"/>
          </a:ln>
        </p:spPr>
      </p:sp>
      <p:sp>
        <p:nvSpPr>
          <p:cNvPr id="9" name="Text 7"/>
          <p:cNvSpPr/>
          <p:nvPr/>
        </p:nvSpPr>
        <p:spPr>
          <a:xfrm>
            <a:off x="457200" y="1005840"/>
            <a:ext cx="5120640" cy="640080"/>
          </a:xfrm>
          <a:prstGeom prst="rect">
            <a:avLst/>
          </a:prstGeom>
          <a:noFill/>
          <a:ln/>
        </p:spPr>
        <p:txBody>
          <a:bodyPr wrap="square" lIns="0" tIns="0" rIns="0" bIns="0" rtlCol="0" anchor="ctr"/>
          <a:lstStyle/>
          <a:p>
            <a:pPr marL="0" indent="0" algn="l">
              <a:buNone/>
            </a:pPr>
            <a:r>
              <a:rPr lang="en-US" sz="3600" dirty="0">
                <a:solidFill>
                  <a:srgbClr val="FFFFFF"/>
                </a:solidFill>
                <a:latin typeface="Calibri" pitchFamily="34" charset="0"/>
                <a:ea typeface="Calibri" pitchFamily="34" charset="-122"/>
                <a:cs typeface="Calibri" pitchFamily="34" charset="-120"/>
              </a:rPr>
              <a:t>Système de</a:t>
            </a:r>
            <a:endParaRPr lang="en-US" sz="3600" dirty="0"/>
          </a:p>
        </p:txBody>
      </p:sp>
      <p:sp>
        <p:nvSpPr>
          <p:cNvPr id="10" name="Text 8"/>
          <p:cNvSpPr/>
          <p:nvPr/>
        </p:nvSpPr>
        <p:spPr>
          <a:xfrm>
            <a:off x="457200" y="1554480"/>
            <a:ext cx="5120640" cy="777240"/>
          </a:xfrm>
          <a:prstGeom prst="rect">
            <a:avLst/>
          </a:prstGeom>
          <a:noFill/>
          <a:ln/>
        </p:spPr>
        <p:txBody>
          <a:bodyPr wrap="square" lIns="0" tIns="0" rIns="0" bIns="0" rtlCol="0" anchor="ctr"/>
          <a:lstStyle/>
          <a:p>
            <a:pPr marL="0" indent="0" algn="l">
              <a:buNone/>
            </a:pPr>
            <a:r>
              <a:rPr lang="en-US" sz="4200" b="1" dirty="0">
                <a:solidFill>
                  <a:srgbClr val="E8724A"/>
                </a:solidFill>
                <a:latin typeface="Calibri" pitchFamily="34" charset="0"/>
                <a:ea typeface="Calibri" pitchFamily="34" charset="-122"/>
                <a:cs typeface="Calibri" pitchFamily="34" charset="-120"/>
              </a:rPr>
              <a:t>Vente de Voitures</a:t>
            </a:r>
            <a:endParaRPr lang="en-US" sz="4200" dirty="0"/>
          </a:p>
        </p:txBody>
      </p:sp>
      <p:sp>
        <p:nvSpPr>
          <p:cNvPr id="11" name="Text 9"/>
          <p:cNvSpPr/>
          <p:nvPr/>
        </p:nvSpPr>
        <p:spPr>
          <a:xfrm>
            <a:off x="457200" y="2331720"/>
            <a:ext cx="5120640" cy="457200"/>
          </a:xfrm>
          <a:prstGeom prst="rect">
            <a:avLst/>
          </a:prstGeom>
          <a:noFill/>
          <a:ln/>
        </p:spPr>
        <p:txBody>
          <a:bodyPr wrap="square" lIns="0" tIns="0" rIns="0" bIns="0" rtlCol="0" anchor="ctr"/>
          <a:lstStyle/>
          <a:p>
            <a:pPr marL="0" indent="0" algn="l">
              <a:buNone/>
            </a:pPr>
            <a:r>
              <a:rPr lang="en-US" sz="2200" dirty="0">
                <a:solidFill>
                  <a:srgbClr val="A8BDD0"/>
                </a:solidFill>
                <a:latin typeface="Calibri" pitchFamily="34" charset="0"/>
                <a:ea typeface="Calibri" pitchFamily="34" charset="-122"/>
                <a:cs typeface="Calibri" pitchFamily="34" charset="-120"/>
              </a:rPr>
              <a:t>en langage C</a:t>
            </a:r>
            <a:endParaRPr lang="en-US" sz="2200" dirty="0"/>
          </a:p>
        </p:txBody>
      </p:sp>
      <p:sp>
        <p:nvSpPr>
          <p:cNvPr id="12" name="Text 10"/>
          <p:cNvSpPr/>
          <p:nvPr/>
        </p:nvSpPr>
        <p:spPr>
          <a:xfrm>
            <a:off x="457200" y="3108960"/>
            <a:ext cx="5303520" cy="457200"/>
          </a:xfrm>
          <a:prstGeom prst="rect">
            <a:avLst/>
          </a:prstGeom>
          <a:noFill/>
          <a:ln/>
        </p:spPr>
        <p:txBody>
          <a:bodyPr wrap="square" lIns="0" tIns="0" rIns="0" bIns="0" rtlCol="0" anchor="ctr"/>
          <a:lstStyle/>
          <a:p>
            <a:pPr marL="0" indent="0" algn="l">
              <a:buNone/>
            </a:pPr>
            <a:r>
              <a:rPr lang="en-US" sz="1400" dirty="0">
                <a:solidFill>
                  <a:srgbClr val="6A8CAD"/>
                </a:solidFill>
                <a:latin typeface="Calibri" pitchFamily="34" charset="0"/>
                <a:ea typeface="Calibri" pitchFamily="34" charset="-122"/>
                <a:cs typeface="Calibri" pitchFamily="34" charset="-120"/>
              </a:rPr>
              <a:t>Présentation du projet — Structures de données &amp; Gestion des ventes</a:t>
            </a:r>
            <a:endParaRPr lang="en-US" sz="1400" dirty="0"/>
          </a:p>
        </p:txBody>
      </p:sp>
      <p:sp>
        <p:nvSpPr>
          <p:cNvPr id="13" name="Shape 11"/>
          <p:cNvSpPr/>
          <p:nvPr/>
        </p:nvSpPr>
        <p:spPr>
          <a:xfrm>
            <a:off x="457200" y="4389120"/>
            <a:ext cx="2011680" cy="384048"/>
          </a:xfrm>
          <a:prstGeom prst="rect">
            <a:avLst/>
          </a:prstGeom>
          <a:solidFill>
            <a:srgbClr val="E8724A"/>
          </a:solidFill>
          <a:ln w="12700">
            <a:solidFill>
              <a:srgbClr val="E8724A"/>
            </a:solidFill>
            <a:prstDash val="solid"/>
          </a:ln>
        </p:spPr>
      </p:sp>
      <p:sp>
        <p:nvSpPr>
          <p:cNvPr id="14" name="Text 12"/>
          <p:cNvSpPr/>
          <p:nvPr/>
        </p:nvSpPr>
        <p:spPr>
          <a:xfrm>
            <a:off x="457200" y="4389120"/>
            <a:ext cx="20116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Langage C · Listes chaînées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E4A"/>
          </a:solidFill>
          <a:ln w="12700">
            <a:solidFill>
              <a:srgbClr val="1A2E4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Vue d'ensemble du projet</a:t>
            </a:r>
            <a:endParaRPr lang="en-US" sz="2400" dirty="0"/>
          </a:p>
        </p:txBody>
      </p:sp>
      <p:sp>
        <p:nvSpPr>
          <p:cNvPr id="4" name="Shape 2"/>
          <p:cNvSpPr/>
          <p:nvPr/>
        </p:nvSpPr>
        <p:spPr>
          <a:xfrm>
            <a:off x="365760" y="960120"/>
            <a:ext cx="8412480" cy="114300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5" name="Text 3"/>
          <p:cNvSpPr/>
          <p:nvPr/>
        </p:nvSpPr>
        <p:spPr>
          <a:xfrm>
            <a:off x="548640" y="1024128"/>
            <a:ext cx="8046720" cy="1024128"/>
          </a:xfrm>
          <a:prstGeom prst="rect">
            <a:avLst/>
          </a:prstGeom>
          <a:noFill/>
          <a:ln/>
        </p:spPr>
        <p:txBody>
          <a:bodyPr wrap="square" lIns="0" tIns="0" rIns="0" bIns="0" rtlCol="0" anchor="ctr"/>
          <a:lstStyle/>
          <a:p>
            <a:pPr marL="0" indent="0" algn="l">
              <a:buNone/>
            </a:pPr>
            <a:r>
              <a:rPr lang="en-US" sz="1350" dirty="0">
                <a:solidFill>
                  <a:srgbClr val="2C3E50"/>
                </a:solidFill>
                <a:latin typeface="Calibri" pitchFamily="34" charset="0"/>
                <a:ea typeface="Calibri" pitchFamily="34" charset="-122"/>
                <a:cs typeface="Calibri" pitchFamily="34" charset="-120"/>
              </a:rPr>
              <a:t>Ce programme est un système simplifié de gestion et de vente de voitures, développé en C. Il utilise des listes chaînées dynamiques pour gérer un inventaire de véhicules et un historique de ventes. Le programme propose deux modes d'accès : un espace Client pour consulter et acheter, et un espace Admin pour gérer le catalogue.</a:t>
            </a:r>
            <a:endParaRPr lang="en-US" sz="1350" dirty="0"/>
          </a:p>
        </p:txBody>
      </p:sp>
      <p:sp>
        <p:nvSpPr>
          <p:cNvPr id="6" name="Shape 4"/>
          <p:cNvSpPr/>
          <p:nvPr/>
        </p:nvSpPr>
        <p:spPr>
          <a:xfrm>
            <a:off x="365760" y="2331720"/>
            <a:ext cx="2651760" cy="242316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7" name="Shape 5"/>
          <p:cNvSpPr/>
          <p:nvPr/>
        </p:nvSpPr>
        <p:spPr>
          <a:xfrm>
            <a:off x="365760" y="2331720"/>
            <a:ext cx="2651760" cy="73152"/>
          </a:xfrm>
          <a:prstGeom prst="rect">
            <a:avLst/>
          </a:prstGeom>
          <a:solidFill>
            <a:srgbClr val="E8724A"/>
          </a:solidFill>
          <a:ln w="12700">
            <a:solidFill>
              <a:srgbClr val="E8724A"/>
            </a:solidFill>
            <a:prstDash val="solid"/>
          </a:ln>
        </p:spPr>
      </p:sp>
      <p:sp>
        <p:nvSpPr>
          <p:cNvPr id="8" name="Text 6"/>
          <p:cNvSpPr/>
          <p:nvPr/>
        </p:nvSpPr>
        <p:spPr>
          <a:xfrm>
            <a:off x="457200" y="2468880"/>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475488" y="3127248"/>
            <a:ext cx="2423160" cy="411480"/>
          </a:xfrm>
          <a:prstGeom prst="rect">
            <a:avLst/>
          </a:prstGeom>
          <a:noFill/>
          <a:ln/>
        </p:spPr>
        <p:txBody>
          <a:bodyPr wrap="square" lIns="0" tIns="0" rIns="0" bIns="0" rtlCol="0" anchor="ctr"/>
          <a:lstStyle/>
          <a:p>
            <a:pPr marL="0" indent="0" algn="l">
              <a:buNone/>
            </a:pPr>
            <a:r>
              <a:rPr lang="en-US" sz="1300" b="1" dirty="0">
                <a:solidFill>
                  <a:srgbClr val="1A2E4A"/>
                </a:solidFill>
                <a:latin typeface="Calibri" pitchFamily="34" charset="0"/>
                <a:ea typeface="Calibri" pitchFamily="34" charset="-122"/>
                <a:cs typeface="Calibri" pitchFamily="34" charset="-120"/>
              </a:rPr>
              <a:t>Inventaire dynamique</a:t>
            </a:r>
            <a:endParaRPr lang="en-US" sz="1300" dirty="0"/>
          </a:p>
        </p:txBody>
      </p:sp>
      <p:sp>
        <p:nvSpPr>
          <p:cNvPr id="10" name="Text 8"/>
          <p:cNvSpPr/>
          <p:nvPr/>
        </p:nvSpPr>
        <p:spPr>
          <a:xfrm>
            <a:off x="475488" y="3547872"/>
            <a:ext cx="2423160" cy="1115568"/>
          </a:xfrm>
          <a:prstGeom prst="rect">
            <a:avLst/>
          </a:prstGeom>
          <a:noFill/>
          <a:ln/>
        </p:spPr>
        <p:txBody>
          <a:bodyPr wrap="square" lIns="0" tIns="0" rIns="0" bIns="0" rtlCol="0" anchor="ctr"/>
          <a:lstStyle/>
          <a:p>
            <a:pPr marL="0" indent="0" algn="l">
              <a:buNone/>
            </a:pPr>
            <a:r>
              <a:rPr lang="en-US" sz="1150" dirty="0">
                <a:solidFill>
                  <a:srgbClr val="6C7A89"/>
                </a:solidFill>
                <a:latin typeface="Calibri" pitchFamily="34" charset="0"/>
                <a:ea typeface="Calibri" pitchFamily="34" charset="-122"/>
                <a:cs typeface="Calibri" pitchFamily="34" charset="-120"/>
              </a:rPr>
              <a:t>Ajout, suppression et affichage des voitures en temps réel via des listes chaînées.</a:t>
            </a:r>
            <a:endParaRPr lang="en-US" sz="1150" dirty="0"/>
          </a:p>
        </p:txBody>
      </p:sp>
      <p:sp>
        <p:nvSpPr>
          <p:cNvPr id="11" name="Shape 9"/>
          <p:cNvSpPr/>
          <p:nvPr/>
        </p:nvSpPr>
        <p:spPr>
          <a:xfrm>
            <a:off x="3200400" y="2331720"/>
            <a:ext cx="2651760" cy="242316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12" name="Shape 10"/>
          <p:cNvSpPr/>
          <p:nvPr/>
        </p:nvSpPr>
        <p:spPr>
          <a:xfrm>
            <a:off x="3200400" y="2331720"/>
            <a:ext cx="2651760" cy="73152"/>
          </a:xfrm>
          <a:prstGeom prst="rect">
            <a:avLst/>
          </a:prstGeom>
          <a:solidFill>
            <a:srgbClr val="E8724A"/>
          </a:solidFill>
          <a:ln w="12700">
            <a:solidFill>
              <a:srgbClr val="E8724A"/>
            </a:solidFill>
            <a:prstDash val="solid"/>
          </a:ln>
        </p:spPr>
      </p:sp>
      <p:sp>
        <p:nvSpPr>
          <p:cNvPr id="13" name="Text 11"/>
          <p:cNvSpPr/>
          <p:nvPr/>
        </p:nvSpPr>
        <p:spPr>
          <a:xfrm>
            <a:off x="3291840" y="2468880"/>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4" name="Text 12"/>
          <p:cNvSpPr/>
          <p:nvPr/>
        </p:nvSpPr>
        <p:spPr>
          <a:xfrm>
            <a:off x="3310128" y="3127248"/>
            <a:ext cx="2423160" cy="411480"/>
          </a:xfrm>
          <a:prstGeom prst="rect">
            <a:avLst/>
          </a:prstGeom>
          <a:noFill/>
          <a:ln/>
        </p:spPr>
        <p:txBody>
          <a:bodyPr wrap="square" lIns="0" tIns="0" rIns="0" bIns="0" rtlCol="0" anchor="ctr"/>
          <a:lstStyle/>
          <a:p>
            <a:pPr marL="0" indent="0" algn="l">
              <a:buNone/>
            </a:pPr>
            <a:r>
              <a:rPr lang="en-US" sz="1300" b="1" dirty="0">
                <a:solidFill>
                  <a:srgbClr val="1A2E4A"/>
                </a:solidFill>
                <a:latin typeface="Calibri" pitchFamily="34" charset="0"/>
                <a:ea typeface="Calibri" pitchFamily="34" charset="-122"/>
                <a:cs typeface="Calibri" pitchFamily="34" charset="-120"/>
              </a:rPr>
              <a:t>Achat de véhicules</a:t>
            </a:r>
            <a:endParaRPr lang="en-US" sz="1300" dirty="0"/>
          </a:p>
        </p:txBody>
      </p:sp>
      <p:sp>
        <p:nvSpPr>
          <p:cNvPr id="15" name="Text 13"/>
          <p:cNvSpPr/>
          <p:nvPr/>
        </p:nvSpPr>
        <p:spPr>
          <a:xfrm>
            <a:off x="3310128" y="3547872"/>
            <a:ext cx="2423160" cy="1115568"/>
          </a:xfrm>
          <a:prstGeom prst="rect">
            <a:avLst/>
          </a:prstGeom>
          <a:noFill/>
          <a:ln/>
        </p:spPr>
        <p:txBody>
          <a:bodyPr wrap="square" lIns="0" tIns="0" rIns="0" bIns="0" rtlCol="0" anchor="ctr"/>
          <a:lstStyle/>
          <a:p>
            <a:pPr marL="0" indent="0" algn="l">
              <a:buNone/>
            </a:pPr>
            <a:r>
              <a:rPr lang="en-US" sz="1150" dirty="0">
                <a:solidFill>
                  <a:srgbClr val="6C7A89"/>
                </a:solidFill>
                <a:latin typeface="Calibri" pitchFamily="34" charset="0"/>
                <a:ea typeface="Calibri" pitchFamily="34" charset="-122"/>
                <a:cs typeface="Calibri" pitchFamily="34" charset="-120"/>
              </a:rPr>
              <a:t>Le client choisit une voiture disponible et l'achète. Elle est marquée comme vendue.</a:t>
            </a:r>
            <a:endParaRPr lang="en-US" sz="1150" dirty="0"/>
          </a:p>
        </p:txBody>
      </p:sp>
      <p:sp>
        <p:nvSpPr>
          <p:cNvPr id="16" name="Shape 14"/>
          <p:cNvSpPr/>
          <p:nvPr/>
        </p:nvSpPr>
        <p:spPr>
          <a:xfrm>
            <a:off x="6035040" y="2331720"/>
            <a:ext cx="2651760" cy="242316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17" name="Shape 15"/>
          <p:cNvSpPr/>
          <p:nvPr/>
        </p:nvSpPr>
        <p:spPr>
          <a:xfrm>
            <a:off x="6035040" y="2331720"/>
            <a:ext cx="2651760" cy="73152"/>
          </a:xfrm>
          <a:prstGeom prst="rect">
            <a:avLst/>
          </a:prstGeom>
          <a:solidFill>
            <a:srgbClr val="E8724A"/>
          </a:solidFill>
          <a:ln w="12700">
            <a:solidFill>
              <a:srgbClr val="E8724A"/>
            </a:solidFill>
            <a:prstDash val="solid"/>
          </a:ln>
        </p:spPr>
      </p:sp>
      <p:sp>
        <p:nvSpPr>
          <p:cNvPr id="18" name="Text 16"/>
          <p:cNvSpPr/>
          <p:nvPr/>
        </p:nvSpPr>
        <p:spPr>
          <a:xfrm>
            <a:off x="6126480" y="2468880"/>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9" name="Text 17"/>
          <p:cNvSpPr/>
          <p:nvPr/>
        </p:nvSpPr>
        <p:spPr>
          <a:xfrm>
            <a:off x="6144768" y="3127248"/>
            <a:ext cx="2423160" cy="411480"/>
          </a:xfrm>
          <a:prstGeom prst="rect">
            <a:avLst/>
          </a:prstGeom>
          <a:noFill/>
          <a:ln/>
        </p:spPr>
        <p:txBody>
          <a:bodyPr wrap="square" lIns="0" tIns="0" rIns="0" bIns="0" rtlCol="0" anchor="ctr"/>
          <a:lstStyle/>
          <a:p>
            <a:pPr marL="0" indent="0" algn="l">
              <a:buNone/>
            </a:pPr>
            <a:r>
              <a:rPr lang="en-US" sz="1300" b="1" dirty="0">
                <a:solidFill>
                  <a:srgbClr val="1A2E4A"/>
                </a:solidFill>
                <a:latin typeface="Calibri" pitchFamily="34" charset="0"/>
                <a:ea typeface="Calibri" pitchFamily="34" charset="-122"/>
                <a:cs typeface="Calibri" pitchFamily="34" charset="-120"/>
              </a:rPr>
              <a:t>Historique des ventes</a:t>
            </a:r>
            <a:endParaRPr lang="en-US" sz="1300" dirty="0"/>
          </a:p>
        </p:txBody>
      </p:sp>
      <p:sp>
        <p:nvSpPr>
          <p:cNvPr id="20" name="Text 18"/>
          <p:cNvSpPr/>
          <p:nvPr/>
        </p:nvSpPr>
        <p:spPr>
          <a:xfrm>
            <a:off x="6144768" y="3547872"/>
            <a:ext cx="2423160" cy="1115568"/>
          </a:xfrm>
          <a:prstGeom prst="rect">
            <a:avLst/>
          </a:prstGeom>
          <a:noFill/>
          <a:ln/>
        </p:spPr>
        <p:txBody>
          <a:bodyPr wrap="square" lIns="0" tIns="0" rIns="0" bIns="0" rtlCol="0" anchor="ctr"/>
          <a:lstStyle/>
          <a:p>
            <a:pPr marL="0" indent="0" algn="l">
              <a:buNone/>
            </a:pPr>
            <a:r>
              <a:rPr lang="en-US" sz="1150" dirty="0">
                <a:solidFill>
                  <a:srgbClr val="6C7A89"/>
                </a:solidFill>
                <a:latin typeface="Calibri" pitchFamily="34" charset="0"/>
                <a:ea typeface="Calibri" pitchFamily="34" charset="-122"/>
                <a:cs typeface="Calibri" pitchFamily="34" charset="-120"/>
              </a:rPr>
              <a:t>Chaque transaction est enregistrée dans une liste de ventes avec l'acheteur et le prix.</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E4A"/>
          </a:solidFill>
          <a:ln w="12700">
            <a:solidFill>
              <a:srgbClr val="1A2E4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Structure : CarNode  —  La voiture</a:t>
            </a:r>
            <a:endParaRPr lang="en-US" sz="2400" dirty="0"/>
          </a:p>
        </p:txBody>
      </p:sp>
      <p:sp>
        <p:nvSpPr>
          <p:cNvPr id="4" name="Shape 2"/>
          <p:cNvSpPr/>
          <p:nvPr/>
        </p:nvSpPr>
        <p:spPr>
          <a:xfrm>
            <a:off x="365760" y="960120"/>
            <a:ext cx="4023360" cy="3794760"/>
          </a:xfrm>
          <a:prstGeom prst="rect">
            <a:avLst/>
          </a:prstGeom>
          <a:solidFill>
            <a:srgbClr val="2C3E50"/>
          </a:solidFill>
          <a:ln w="12700">
            <a:solidFill>
              <a:srgbClr val="2C3E50"/>
            </a:solidFill>
            <a:prstDash val="solid"/>
          </a:ln>
        </p:spPr>
      </p:sp>
      <p:sp>
        <p:nvSpPr>
          <p:cNvPr id="5" name="Text 3"/>
          <p:cNvSpPr/>
          <p:nvPr/>
        </p:nvSpPr>
        <p:spPr>
          <a:xfrm>
            <a:off x="502920" y="1051560"/>
            <a:ext cx="3749040" cy="3611880"/>
          </a:xfrm>
          <a:prstGeom prst="rect">
            <a:avLst/>
          </a:prstGeom>
          <a:noFill/>
          <a:ln/>
        </p:spPr>
        <p:txBody>
          <a:bodyPr wrap="square" lIns="0" tIns="0" rIns="0" bIns="0" rtlCol="0" anchor="t"/>
          <a:lstStyle/>
          <a:p>
            <a:pPr marL="0" indent="0">
              <a:buNone/>
            </a:pPr>
            <a:r>
              <a:rPr lang="en-US" sz="1200" dirty="0">
                <a:solidFill>
                  <a:srgbClr val="A8D8A8"/>
                </a:solidFill>
                <a:latin typeface="Consolas" pitchFamily="34" charset="0"/>
                <a:ea typeface="Consolas" pitchFamily="34" charset="-122"/>
                <a:cs typeface="Consolas" pitchFamily="34" charset="-120"/>
              </a:rPr>
              <a:t>typedef struct CarNode {</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int  </a:t>
            </a:r>
            <a:r>
              <a:rPr lang="en-US" sz="1200" dirty="0">
                <a:solidFill>
                  <a:srgbClr val="FFFFFF"/>
                </a:solidFill>
                <a:latin typeface="Consolas" pitchFamily="34" charset="0"/>
                <a:ea typeface="Consolas" pitchFamily="34" charset="-122"/>
                <a:cs typeface="Consolas" pitchFamily="34" charset="-120"/>
              </a:rPr>
              <a:t>id;</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char </a:t>
            </a:r>
            <a:r>
              <a:rPr lang="en-US" sz="1200" dirty="0">
                <a:solidFill>
                  <a:srgbClr val="FFFFFF"/>
                </a:solidFill>
                <a:latin typeface="Consolas" pitchFamily="34" charset="0"/>
                <a:ea typeface="Consolas" pitchFamily="34" charset="-122"/>
                <a:cs typeface="Consolas" pitchFamily="34" charset="-120"/>
              </a:rPr>
              <a:t>brand[30];</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char </a:t>
            </a:r>
            <a:r>
              <a:rPr lang="en-US" sz="1200" dirty="0">
                <a:solidFill>
                  <a:srgbClr val="FFFFFF"/>
                </a:solidFill>
                <a:latin typeface="Consolas" pitchFamily="34" charset="0"/>
                <a:ea typeface="Consolas" pitchFamily="34" charset="-122"/>
                <a:cs typeface="Consolas" pitchFamily="34" charset="-120"/>
              </a:rPr>
              <a:t>model[30];</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int  </a:t>
            </a:r>
            <a:r>
              <a:rPr lang="en-US" sz="1200" dirty="0">
                <a:solidFill>
                  <a:srgbClr val="FFFFFF"/>
                </a:solidFill>
                <a:latin typeface="Consolas" pitchFamily="34" charset="0"/>
                <a:ea typeface="Consolas" pitchFamily="34" charset="-122"/>
                <a:cs typeface="Consolas" pitchFamily="34" charset="-120"/>
              </a:rPr>
              <a:t>year;</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float</a:t>
            </a:r>
            <a:r>
              <a:rPr lang="en-US" sz="1200" dirty="0">
                <a:solidFill>
                  <a:srgbClr val="FFFFFF"/>
                </a:solidFill>
                <a:latin typeface="Consolas" pitchFamily="34" charset="0"/>
                <a:ea typeface="Consolas" pitchFamily="34" charset="-122"/>
                <a:cs typeface="Consolas" pitchFamily="34" charset="-120"/>
              </a:rPr>
              <a:t> price;</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int  </a:t>
            </a:r>
            <a:r>
              <a:rPr lang="en-US" sz="1200" dirty="0">
                <a:solidFill>
                  <a:srgbClr val="61AFEF"/>
                </a:solidFill>
                <a:latin typeface="Consolas" pitchFamily="34" charset="0"/>
                <a:ea typeface="Consolas" pitchFamily="34" charset="-122"/>
                <a:cs typeface="Consolas" pitchFamily="34" charset="-120"/>
              </a:rPr>
              <a:t>available;</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struct CarNode*</a:t>
            </a:r>
            <a:r>
              <a:rPr lang="en-US" sz="1200" dirty="0">
                <a:solidFill>
                  <a:srgbClr val="FFFFFF"/>
                </a:solidFill>
                <a:latin typeface="Consolas" pitchFamily="34" charset="0"/>
                <a:ea typeface="Consolas" pitchFamily="34" charset="-122"/>
                <a:cs typeface="Consolas" pitchFamily="34" charset="-120"/>
              </a:rPr>
              <a:t> next;</a:t>
            </a:r>
            <a:endParaRPr lang="en-US" sz="1200" dirty="0"/>
          </a:p>
          <a:p>
            <a:pPr marL="0" indent="0">
              <a:buNone/>
            </a:pPr>
            <a:r>
              <a:rPr lang="en-US" sz="1200" dirty="0">
                <a:solidFill>
                  <a:srgbClr val="A8D8A8"/>
                </a:solidFill>
                <a:latin typeface="Consolas" pitchFamily="34" charset="0"/>
                <a:ea typeface="Consolas" pitchFamily="34" charset="-122"/>
                <a:cs typeface="Consolas" pitchFamily="34" charset="-120"/>
              </a:rPr>
              <a:t>} CarNode;</a:t>
            </a:r>
            <a:endParaRPr lang="en-US" sz="1200" dirty="0"/>
          </a:p>
        </p:txBody>
      </p:sp>
      <p:sp>
        <p:nvSpPr>
          <p:cNvPr id="6" name="Shape 4"/>
          <p:cNvSpPr/>
          <p:nvPr/>
        </p:nvSpPr>
        <p:spPr>
          <a:xfrm>
            <a:off x="4663440" y="987552"/>
            <a:ext cx="4069080" cy="493776"/>
          </a:xfrm>
          <a:prstGeom prst="rect">
            <a:avLst/>
          </a:prstGeom>
          <a:solidFill>
            <a:srgbClr val="FFFFFF"/>
          </a:solidFill>
          <a:ln w="12700">
            <a:solidFill>
              <a:srgbClr val="D8E3EC"/>
            </a:solidFill>
            <a:prstDash val="solid"/>
          </a:ln>
        </p:spPr>
      </p:sp>
      <p:sp>
        <p:nvSpPr>
          <p:cNvPr id="7" name="Shape 5"/>
          <p:cNvSpPr/>
          <p:nvPr/>
        </p:nvSpPr>
        <p:spPr>
          <a:xfrm>
            <a:off x="4663440" y="987552"/>
            <a:ext cx="64008" cy="493776"/>
          </a:xfrm>
          <a:prstGeom prst="rect">
            <a:avLst/>
          </a:prstGeom>
          <a:solidFill>
            <a:srgbClr val="E8724A"/>
          </a:solidFill>
          <a:ln w="12700">
            <a:solidFill>
              <a:srgbClr val="E8724A"/>
            </a:solidFill>
            <a:prstDash val="solid"/>
          </a:ln>
        </p:spPr>
      </p:sp>
      <p:sp>
        <p:nvSpPr>
          <p:cNvPr id="8" name="Text 6"/>
          <p:cNvSpPr/>
          <p:nvPr/>
        </p:nvSpPr>
        <p:spPr>
          <a:xfrm>
            <a:off x="4800600" y="1024128"/>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id</a:t>
            </a:r>
            <a:endParaRPr lang="en-US" sz="1150" dirty="0"/>
          </a:p>
        </p:txBody>
      </p:sp>
      <p:sp>
        <p:nvSpPr>
          <p:cNvPr id="9" name="Text 7"/>
          <p:cNvSpPr/>
          <p:nvPr/>
        </p:nvSpPr>
        <p:spPr>
          <a:xfrm>
            <a:off x="4800600" y="1234440"/>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Identifiant unique de la voiture</a:t>
            </a:r>
            <a:endParaRPr lang="en-US" sz="1050" dirty="0"/>
          </a:p>
        </p:txBody>
      </p:sp>
      <p:sp>
        <p:nvSpPr>
          <p:cNvPr id="10" name="Shape 8"/>
          <p:cNvSpPr/>
          <p:nvPr/>
        </p:nvSpPr>
        <p:spPr>
          <a:xfrm>
            <a:off x="4663440" y="1554480"/>
            <a:ext cx="4069080" cy="493776"/>
          </a:xfrm>
          <a:prstGeom prst="rect">
            <a:avLst/>
          </a:prstGeom>
          <a:solidFill>
            <a:srgbClr val="FFFFFF"/>
          </a:solidFill>
          <a:ln w="12700">
            <a:solidFill>
              <a:srgbClr val="D8E3EC"/>
            </a:solidFill>
            <a:prstDash val="solid"/>
          </a:ln>
        </p:spPr>
      </p:sp>
      <p:sp>
        <p:nvSpPr>
          <p:cNvPr id="11" name="Shape 9"/>
          <p:cNvSpPr/>
          <p:nvPr/>
        </p:nvSpPr>
        <p:spPr>
          <a:xfrm>
            <a:off x="4663440" y="1554480"/>
            <a:ext cx="64008" cy="493776"/>
          </a:xfrm>
          <a:prstGeom prst="rect">
            <a:avLst/>
          </a:prstGeom>
          <a:solidFill>
            <a:srgbClr val="E8724A"/>
          </a:solidFill>
          <a:ln w="12700">
            <a:solidFill>
              <a:srgbClr val="E8724A"/>
            </a:solidFill>
            <a:prstDash val="solid"/>
          </a:ln>
        </p:spPr>
      </p:sp>
      <p:sp>
        <p:nvSpPr>
          <p:cNvPr id="12" name="Text 10"/>
          <p:cNvSpPr/>
          <p:nvPr/>
        </p:nvSpPr>
        <p:spPr>
          <a:xfrm>
            <a:off x="4800600" y="1591056"/>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brand / model</a:t>
            </a:r>
            <a:endParaRPr lang="en-US" sz="1150" dirty="0"/>
          </a:p>
        </p:txBody>
      </p:sp>
      <p:sp>
        <p:nvSpPr>
          <p:cNvPr id="13" name="Text 11"/>
          <p:cNvSpPr/>
          <p:nvPr/>
        </p:nvSpPr>
        <p:spPr>
          <a:xfrm>
            <a:off x="4800600" y="1801368"/>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Marque et modèle du véhicule</a:t>
            </a:r>
            <a:endParaRPr lang="en-US" sz="1050" dirty="0"/>
          </a:p>
        </p:txBody>
      </p:sp>
      <p:sp>
        <p:nvSpPr>
          <p:cNvPr id="14" name="Shape 12"/>
          <p:cNvSpPr/>
          <p:nvPr/>
        </p:nvSpPr>
        <p:spPr>
          <a:xfrm>
            <a:off x="4663440" y="2121408"/>
            <a:ext cx="4069080" cy="493776"/>
          </a:xfrm>
          <a:prstGeom prst="rect">
            <a:avLst/>
          </a:prstGeom>
          <a:solidFill>
            <a:srgbClr val="FFFFFF"/>
          </a:solidFill>
          <a:ln w="12700">
            <a:solidFill>
              <a:srgbClr val="D8E3EC"/>
            </a:solidFill>
            <a:prstDash val="solid"/>
          </a:ln>
        </p:spPr>
      </p:sp>
      <p:sp>
        <p:nvSpPr>
          <p:cNvPr id="15" name="Shape 13"/>
          <p:cNvSpPr/>
          <p:nvPr/>
        </p:nvSpPr>
        <p:spPr>
          <a:xfrm>
            <a:off x="4663440" y="2121408"/>
            <a:ext cx="64008" cy="493776"/>
          </a:xfrm>
          <a:prstGeom prst="rect">
            <a:avLst/>
          </a:prstGeom>
          <a:solidFill>
            <a:srgbClr val="E8724A"/>
          </a:solidFill>
          <a:ln w="12700">
            <a:solidFill>
              <a:srgbClr val="E8724A"/>
            </a:solidFill>
            <a:prstDash val="solid"/>
          </a:ln>
        </p:spPr>
      </p:sp>
      <p:sp>
        <p:nvSpPr>
          <p:cNvPr id="16" name="Text 14"/>
          <p:cNvSpPr/>
          <p:nvPr/>
        </p:nvSpPr>
        <p:spPr>
          <a:xfrm>
            <a:off x="4800600" y="2157984"/>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year</a:t>
            </a:r>
            <a:endParaRPr lang="en-US" sz="1150" dirty="0"/>
          </a:p>
        </p:txBody>
      </p:sp>
      <p:sp>
        <p:nvSpPr>
          <p:cNvPr id="17" name="Text 15"/>
          <p:cNvSpPr/>
          <p:nvPr/>
        </p:nvSpPr>
        <p:spPr>
          <a:xfrm>
            <a:off x="4800600" y="2368296"/>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Année de fabrication</a:t>
            </a:r>
            <a:endParaRPr lang="en-US" sz="1050" dirty="0"/>
          </a:p>
        </p:txBody>
      </p:sp>
      <p:sp>
        <p:nvSpPr>
          <p:cNvPr id="18" name="Shape 16"/>
          <p:cNvSpPr/>
          <p:nvPr/>
        </p:nvSpPr>
        <p:spPr>
          <a:xfrm>
            <a:off x="4663440" y="2688336"/>
            <a:ext cx="4069080" cy="493776"/>
          </a:xfrm>
          <a:prstGeom prst="rect">
            <a:avLst/>
          </a:prstGeom>
          <a:solidFill>
            <a:srgbClr val="FFFFFF"/>
          </a:solidFill>
          <a:ln w="12700">
            <a:solidFill>
              <a:srgbClr val="D8E3EC"/>
            </a:solidFill>
            <a:prstDash val="solid"/>
          </a:ln>
        </p:spPr>
      </p:sp>
      <p:sp>
        <p:nvSpPr>
          <p:cNvPr id="19" name="Shape 17"/>
          <p:cNvSpPr/>
          <p:nvPr/>
        </p:nvSpPr>
        <p:spPr>
          <a:xfrm>
            <a:off x="4663440" y="2688336"/>
            <a:ext cx="64008" cy="493776"/>
          </a:xfrm>
          <a:prstGeom prst="rect">
            <a:avLst/>
          </a:prstGeom>
          <a:solidFill>
            <a:srgbClr val="E8724A"/>
          </a:solidFill>
          <a:ln w="12700">
            <a:solidFill>
              <a:srgbClr val="E8724A"/>
            </a:solidFill>
            <a:prstDash val="solid"/>
          </a:ln>
        </p:spPr>
      </p:sp>
      <p:sp>
        <p:nvSpPr>
          <p:cNvPr id="20" name="Text 18"/>
          <p:cNvSpPr/>
          <p:nvPr/>
        </p:nvSpPr>
        <p:spPr>
          <a:xfrm>
            <a:off x="4800600" y="2724912"/>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price</a:t>
            </a:r>
            <a:endParaRPr lang="en-US" sz="1150" dirty="0"/>
          </a:p>
        </p:txBody>
      </p:sp>
      <p:sp>
        <p:nvSpPr>
          <p:cNvPr id="21" name="Text 19"/>
          <p:cNvSpPr/>
          <p:nvPr/>
        </p:nvSpPr>
        <p:spPr>
          <a:xfrm>
            <a:off x="4800600" y="2935224"/>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Prix de vente en float</a:t>
            </a:r>
            <a:endParaRPr lang="en-US" sz="1050" dirty="0"/>
          </a:p>
        </p:txBody>
      </p:sp>
      <p:sp>
        <p:nvSpPr>
          <p:cNvPr id="22" name="Shape 20"/>
          <p:cNvSpPr/>
          <p:nvPr/>
        </p:nvSpPr>
        <p:spPr>
          <a:xfrm>
            <a:off x="4663440" y="3255264"/>
            <a:ext cx="4069080" cy="493776"/>
          </a:xfrm>
          <a:prstGeom prst="rect">
            <a:avLst/>
          </a:prstGeom>
          <a:solidFill>
            <a:srgbClr val="FFFFFF"/>
          </a:solidFill>
          <a:ln w="12700">
            <a:solidFill>
              <a:srgbClr val="D8E3EC"/>
            </a:solidFill>
            <a:prstDash val="solid"/>
          </a:ln>
        </p:spPr>
      </p:sp>
      <p:sp>
        <p:nvSpPr>
          <p:cNvPr id="23" name="Shape 21"/>
          <p:cNvSpPr/>
          <p:nvPr/>
        </p:nvSpPr>
        <p:spPr>
          <a:xfrm>
            <a:off x="4663440" y="3255264"/>
            <a:ext cx="64008" cy="493776"/>
          </a:xfrm>
          <a:prstGeom prst="rect">
            <a:avLst/>
          </a:prstGeom>
          <a:solidFill>
            <a:srgbClr val="3498DB"/>
          </a:solidFill>
          <a:ln w="12700">
            <a:solidFill>
              <a:srgbClr val="3498DB"/>
            </a:solidFill>
            <a:prstDash val="solid"/>
          </a:ln>
        </p:spPr>
      </p:sp>
      <p:sp>
        <p:nvSpPr>
          <p:cNvPr id="24" name="Text 22"/>
          <p:cNvSpPr/>
          <p:nvPr/>
        </p:nvSpPr>
        <p:spPr>
          <a:xfrm>
            <a:off x="4800600" y="3291840"/>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available</a:t>
            </a:r>
            <a:endParaRPr lang="en-US" sz="1150" dirty="0"/>
          </a:p>
        </p:txBody>
      </p:sp>
      <p:sp>
        <p:nvSpPr>
          <p:cNvPr id="25" name="Text 23"/>
          <p:cNvSpPr/>
          <p:nvPr/>
        </p:nvSpPr>
        <p:spPr>
          <a:xfrm>
            <a:off x="4800600" y="3502152"/>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1 = disponible, 0 = vendue</a:t>
            </a:r>
            <a:endParaRPr lang="en-US" sz="1050" dirty="0"/>
          </a:p>
        </p:txBody>
      </p:sp>
      <p:sp>
        <p:nvSpPr>
          <p:cNvPr id="26" name="Shape 24"/>
          <p:cNvSpPr/>
          <p:nvPr/>
        </p:nvSpPr>
        <p:spPr>
          <a:xfrm>
            <a:off x="4663440" y="3822192"/>
            <a:ext cx="4069080" cy="493776"/>
          </a:xfrm>
          <a:prstGeom prst="rect">
            <a:avLst/>
          </a:prstGeom>
          <a:solidFill>
            <a:srgbClr val="FFFFFF"/>
          </a:solidFill>
          <a:ln w="12700">
            <a:solidFill>
              <a:srgbClr val="D8E3EC"/>
            </a:solidFill>
            <a:prstDash val="solid"/>
          </a:ln>
        </p:spPr>
      </p:sp>
      <p:sp>
        <p:nvSpPr>
          <p:cNvPr id="27" name="Shape 25"/>
          <p:cNvSpPr/>
          <p:nvPr/>
        </p:nvSpPr>
        <p:spPr>
          <a:xfrm>
            <a:off x="4663440" y="3822192"/>
            <a:ext cx="64008" cy="493776"/>
          </a:xfrm>
          <a:prstGeom prst="rect">
            <a:avLst/>
          </a:prstGeom>
          <a:solidFill>
            <a:srgbClr val="E74C3C"/>
          </a:solidFill>
          <a:ln w="12700">
            <a:solidFill>
              <a:srgbClr val="E74C3C"/>
            </a:solidFill>
            <a:prstDash val="solid"/>
          </a:ln>
        </p:spPr>
      </p:sp>
      <p:sp>
        <p:nvSpPr>
          <p:cNvPr id="28" name="Text 26"/>
          <p:cNvSpPr/>
          <p:nvPr/>
        </p:nvSpPr>
        <p:spPr>
          <a:xfrm>
            <a:off x="4800600" y="3858768"/>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next</a:t>
            </a:r>
            <a:endParaRPr lang="en-US" sz="1150" dirty="0"/>
          </a:p>
        </p:txBody>
      </p:sp>
      <p:sp>
        <p:nvSpPr>
          <p:cNvPr id="29" name="Text 27"/>
          <p:cNvSpPr/>
          <p:nvPr/>
        </p:nvSpPr>
        <p:spPr>
          <a:xfrm>
            <a:off x="4800600" y="4069080"/>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Pointeur vers la voiture suivante dans la liste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E4A"/>
          </a:solidFill>
          <a:ln w="12700">
            <a:solidFill>
              <a:srgbClr val="1A2E4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Structure : SaleNode  —  La vente</a:t>
            </a:r>
            <a:endParaRPr lang="en-US" sz="2400" dirty="0"/>
          </a:p>
        </p:txBody>
      </p:sp>
      <p:sp>
        <p:nvSpPr>
          <p:cNvPr id="4" name="Shape 2"/>
          <p:cNvSpPr/>
          <p:nvPr/>
        </p:nvSpPr>
        <p:spPr>
          <a:xfrm>
            <a:off x="365760" y="960120"/>
            <a:ext cx="4023360" cy="3200400"/>
          </a:xfrm>
          <a:prstGeom prst="rect">
            <a:avLst/>
          </a:prstGeom>
          <a:solidFill>
            <a:srgbClr val="2C3E50"/>
          </a:solidFill>
          <a:ln w="12700">
            <a:solidFill>
              <a:srgbClr val="2C3E50"/>
            </a:solidFill>
            <a:prstDash val="solid"/>
          </a:ln>
        </p:spPr>
      </p:sp>
      <p:sp>
        <p:nvSpPr>
          <p:cNvPr id="5" name="Text 3"/>
          <p:cNvSpPr/>
          <p:nvPr/>
        </p:nvSpPr>
        <p:spPr>
          <a:xfrm>
            <a:off x="502920" y="1051560"/>
            <a:ext cx="3749040" cy="3017520"/>
          </a:xfrm>
          <a:prstGeom prst="rect">
            <a:avLst/>
          </a:prstGeom>
          <a:noFill/>
          <a:ln/>
        </p:spPr>
        <p:txBody>
          <a:bodyPr wrap="square" lIns="0" tIns="0" rIns="0" bIns="0" rtlCol="0" anchor="t"/>
          <a:lstStyle/>
          <a:p>
            <a:pPr marL="0" indent="0">
              <a:buNone/>
            </a:pPr>
            <a:r>
              <a:rPr lang="en-US" sz="1200" dirty="0">
                <a:solidFill>
                  <a:srgbClr val="A8D8A8"/>
                </a:solidFill>
                <a:latin typeface="Consolas" pitchFamily="34" charset="0"/>
                <a:ea typeface="Consolas" pitchFamily="34" charset="-122"/>
                <a:cs typeface="Consolas" pitchFamily="34" charset="-120"/>
              </a:rPr>
              <a:t>typedef struct SaleNode {</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int  </a:t>
            </a:r>
            <a:r>
              <a:rPr lang="en-US" sz="1200" dirty="0">
                <a:solidFill>
                  <a:srgbClr val="FFFFFF"/>
                </a:solidFill>
                <a:latin typeface="Consolas" pitchFamily="34" charset="0"/>
                <a:ea typeface="Consolas" pitchFamily="34" charset="-122"/>
                <a:cs typeface="Consolas" pitchFamily="34" charset="-120"/>
              </a:rPr>
              <a:t>id;</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int  </a:t>
            </a:r>
            <a:r>
              <a:rPr lang="en-US" sz="1200" dirty="0">
                <a:solidFill>
                  <a:srgbClr val="61AFEF"/>
                </a:solidFill>
                <a:latin typeface="Consolas" pitchFamily="34" charset="0"/>
                <a:ea typeface="Consolas" pitchFamily="34" charset="-122"/>
                <a:cs typeface="Consolas" pitchFamily="34" charset="-120"/>
              </a:rPr>
              <a:t>car_id;</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char </a:t>
            </a:r>
            <a:r>
              <a:rPr lang="en-US" sz="1200" dirty="0">
                <a:solidFill>
                  <a:srgbClr val="FFFFFF"/>
                </a:solidFill>
                <a:latin typeface="Consolas" pitchFamily="34" charset="0"/>
                <a:ea typeface="Consolas" pitchFamily="34" charset="-122"/>
                <a:cs typeface="Consolas" pitchFamily="34" charset="-120"/>
              </a:rPr>
              <a:t>buyer[30];</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float</a:t>
            </a:r>
            <a:r>
              <a:rPr lang="en-US" sz="1200" dirty="0">
                <a:solidFill>
                  <a:srgbClr val="FFFFFF"/>
                </a:solidFill>
                <a:latin typeface="Consolas" pitchFamily="34" charset="0"/>
                <a:ea typeface="Consolas" pitchFamily="34" charset="-122"/>
                <a:cs typeface="Consolas" pitchFamily="34" charset="-120"/>
              </a:rPr>
              <a:t> price;</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struct SaleNode*</a:t>
            </a:r>
            <a:r>
              <a:rPr lang="en-US" sz="1200" dirty="0">
                <a:solidFill>
                  <a:srgbClr val="FFFFFF"/>
                </a:solidFill>
                <a:latin typeface="Consolas" pitchFamily="34" charset="0"/>
                <a:ea typeface="Consolas" pitchFamily="34" charset="-122"/>
                <a:cs typeface="Consolas" pitchFamily="34" charset="-120"/>
              </a:rPr>
              <a:t> next;</a:t>
            </a:r>
            <a:endParaRPr lang="en-US" sz="1200" dirty="0"/>
          </a:p>
          <a:p>
            <a:pPr marL="0" indent="0">
              <a:buNone/>
            </a:pPr>
            <a:r>
              <a:rPr lang="en-US" sz="1200" dirty="0">
                <a:solidFill>
                  <a:srgbClr val="A8D8A8"/>
                </a:solidFill>
                <a:latin typeface="Consolas" pitchFamily="34" charset="0"/>
                <a:ea typeface="Consolas" pitchFamily="34" charset="-122"/>
                <a:cs typeface="Consolas" pitchFamily="34" charset="-120"/>
              </a:rPr>
              <a:t>} SaleNode;</a:t>
            </a:r>
            <a:endParaRPr lang="en-US" sz="1200" dirty="0"/>
          </a:p>
        </p:txBody>
      </p:sp>
      <p:sp>
        <p:nvSpPr>
          <p:cNvPr id="6" name="Shape 4"/>
          <p:cNvSpPr/>
          <p:nvPr/>
        </p:nvSpPr>
        <p:spPr>
          <a:xfrm>
            <a:off x="4663440" y="987552"/>
            <a:ext cx="4069080" cy="576072"/>
          </a:xfrm>
          <a:prstGeom prst="rect">
            <a:avLst/>
          </a:prstGeom>
          <a:solidFill>
            <a:srgbClr val="FFFFFF"/>
          </a:solidFill>
          <a:ln w="12700">
            <a:solidFill>
              <a:srgbClr val="D8E3EC"/>
            </a:solidFill>
            <a:prstDash val="solid"/>
          </a:ln>
        </p:spPr>
      </p:sp>
      <p:sp>
        <p:nvSpPr>
          <p:cNvPr id="7" name="Shape 5"/>
          <p:cNvSpPr/>
          <p:nvPr/>
        </p:nvSpPr>
        <p:spPr>
          <a:xfrm>
            <a:off x="4663440" y="987552"/>
            <a:ext cx="64008" cy="576072"/>
          </a:xfrm>
          <a:prstGeom prst="rect">
            <a:avLst/>
          </a:prstGeom>
          <a:solidFill>
            <a:srgbClr val="E8724A"/>
          </a:solidFill>
          <a:ln w="12700">
            <a:solidFill>
              <a:srgbClr val="E8724A"/>
            </a:solidFill>
            <a:prstDash val="solid"/>
          </a:ln>
        </p:spPr>
      </p:sp>
      <p:sp>
        <p:nvSpPr>
          <p:cNvPr id="8" name="Text 6"/>
          <p:cNvSpPr/>
          <p:nvPr/>
        </p:nvSpPr>
        <p:spPr>
          <a:xfrm>
            <a:off x="4800600" y="1024128"/>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id</a:t>
            </a:r>
            <a:endParaRPr lang="en-US" sz="1150" dirty="0"/>
          </a:p>
        </p:txBody>
      </p:sp>
      <p:sp>
        <p:nvSpPr>
          <p:cNvPr id="9" name="Text 7"/>
          <p:cNvSpPr/>
          <p:nvPr/>
        </p:nvSpPr>
        <p:spPr>
          <a:xfrm>
            <a:off x="4800600" y="1261872"/>
            <a:ext cx="3794760" cy="256032"/>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Numéro unique de la transaction</a:t>
            </a:r>
            <a:endParaRPr lang="en-US" sz="1050" dirty="0"/>
          </a:p>
        </p:txBody>
      </p:sp>
      <p:sp>
        <p:nvSpPr>
          <p:cNvPr id="10" name="Shape 8"/>
          <p:cNvSpPr/>
          <p:nvPr/>
        </p:nvSpPr>
        <p:spPr>
          <a:xfrm>
            <a:off x="4663440" y="1645920"/>
            <a:ext cx="4069080" cy="576072"/>
          </a:xfrm>
          <a:prstGeom prst="rect">
            <a:avLst/>
          </a:prstGeom>
          <a:solidFill>
            <a:srgbClr val="FFFFFF"/>
          </a:solidFill>
          <a:ln w="12700">
            <a:solidFill>
              <a:srgbClr val="D8E3EC"/>
            </a:solidFill>
            <a:prstDash val="solid"/>
          </a:ln>
        </p:spPr>
      </p:sp>
      <p:sp>
        <p:nvSpPr>
          <p:cNvPr id="11" name="Shape 9"/>
          <p:cNvSpPr/>
          <p:nvPr/>
        </p:nvSpPr>
        <p:spPr>
          <a:xfrm>
            <a:off x="4663440" y="1645920"/>
            <a:ext cx="64008" cy="576072"/>
          </a:xfrm>
          <a:prstGeom prst="rect">
            <a:avLst/>
          </a:prstGeom>
          <a:solidFill>
            <a:srgbClr val="3498DB"/>
          </a:solidFill>
          <a:ln w="12700">
            <a:solidFill>
              <a:srgbClr val="3498DB"/>
            </a:solidFill>
            <a:prstDash val="solid"/>
          </a:ln>
        </p:spPr>
      </p:sp>
      <p:sp>
        <p:nvSpPr>
          <p:cNvPr id="12" name="Text 10"/>
          <p:cNvSpPr/>
          <p:nvPr/>
        </p:nvSpPr>
        <p:spPr>
          <a:xfrm>
            <a:off x="4800600" y="1682496"/>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car_id</a:t>
            </a:r>
            <a:endParaRPr lang="en-US" sz="1150" dirty="0"/>
          </a:p>
        </p:txBody>
      </p:sp>
      <p:sp>
        <p:nvSpPr>
          <p:cNvPr id="13" name="Text 11"/>
          <p:cNvSpPr/>
          <p:nvPr/>
        </p:nvSpPr>
        <p:spPr>
          <a:xfrm>
            <a:off x="4800600" y="1920240"/>
            <a:ext cx="3794760" cy="256032"/>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Référence à la voiture achetée (lien entre les deux listes)</a:t>
            </a:r>
            <a:endParaRPr lang="en-US" sz="1050" dirty="0"/>
          </a:p>
        </p:txBody>
      </p:sp>
      <p:sp>
        <p:nvSpPr>
          <p:cNvPr id="14" name="Shape 12"/>
          <p:cNvSpPr/>
          <p:nvPr/>
        </p:nvSpPr>
        <p:spPr>
          <a:xfrm>
            <a:off x="4663440" y="2304288"/>
            <a:ext cx="4069080" cy="576072"/>
          </a:xfrm>
          <a:prstGeom prst="rect">
            <a:avLst/>
          </a:prstGeom>
          <a:solidFill>
            <a:srgbClr val="FFFFFF"/>
          </a:solidFill>
          <a:ln w="12700">
            <a:solidFill>
              <a:srgbClr val="D8E3EC"/>
            </a:solidFill>
            <a:prstDash val="solid"/>
          </a:ln>
        </p:spPr>
      </p:sp>
      <p:sp>
        <p:nvSpPr>
          <p:cNvPr id="15" name="Shape 13"/>
          <p:cNvSpPr/>
          <p:nvPr/>
        </p:nvSpPr>
        <p:spPr>
          <a:xfrm>
            <a:off x="4663440" y="2304288"/>
            <a:ext cx="64008" cy="576072"/>
          </a:xfrm>
          <a:prstGeom prst="rect">
            <a:avLst/>
          </a:prstGeom>
          <a:solidFill>
            <a:srgbClr val="E8724A"/>
          </a:solidFill>
          <a:ln w="12700">
            <a:solidFill>
              <a:srgbClr val="E8724A"/>
            </a:solidFill>
            <a:prstDash val="solid"/>
          </a:ln>
        </p:spPr>
      </p:sp>
      <p:sp>
        <p:nvSpPr>
          <p:cNvPr id="16" name="Text 14"/>
          <p:cNvSpPr/>
          <p:nvPr/>
        </p:nvSpPr>
        <p:spPr>
          <a:xfrm>
            <a:off x="4800600" y="2340864"/>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buyer</a:t>
            </a:r>
            <a:endParaRPr lang="en-US" sz="1150" dirty="0"/>
          </a:p>
        </p:txBody>
      </p:sp>
      <p:sp>
        <p:nvSpPr>
          <p:cNvPr id="17" name="Text 15"/>
          <p:cNvSpPr/>
          <p:nvPr/>
        </p:nvSpPr>
        <p:spPr>
          <a:xfrm>
            <a:off x="4800600" y="2578608"/>
            <a:ext cx="3794760" cy="256032"/>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Nom de l'acheteur saisi lors de l'achat</a:t>
            </a:r>
            <a:endParaRPr lang="en-US" sz="1050" dirty="0"/>
          </a:p>
        </p:txBody>
      </p:sp>
      <p:sp>
        <p:nvSpPr>
          <p:cNvPr id="18" name="Shape 16"/>
          <p:cNvSpPr/>
          <p:nvPr/>
        </p:nvSpPr>
        <p:spPr>
          <a:xfrm>
            <a:off x="4663440" y="2962656"/>
            <a:ext cx="4069080" cy="576072"/>
          </a:xfrm>
          <a:prstGeom prst="rect">
            <a:avLst/>
          </a:prstGeom>
          <a:solidFill>
            <a:srgbClr val="FFFFFF"/>
          </a:solidFill>
          <a:ln w="12700">
            <a:solidFill>
              <a:srgbClr val="D8E3EC"/>
            </a:solidFill>
            <a:prstDash val="solid"/>
          </a:ln>
        </p:spPr>
      </p:sp>
      <p:sp>
        <p:nvSpPr>
          <p:cNvPr id="19" name="Shape 17"/>
          <p:cNvSpPr/>
          <p:nvPr/>
        </p:nvSpPr>
        <p:spPr>
          <a:xfrm>
            <a:off x="4663440" y="2962656"/>
            <a:ext cx="64008" cy="576072"/>
          </a:xfrm>
          <a:prstGeom prst="rect">
            <a:avLst/>
          </a:prstGeom>
          <a:solidFill>
            <a:srgbClr val="E8724A"/>
          </a:solidFill>
          <a:ln w="12700">
            <a:solidFill>
              <a:srgbClr val="E8724A"/>
            </a:solidFill>
            <a:prstDash val="solid"/>
          </a:ln>
        </p:spPr>
      </p:sp>
      <p:sp>
        <p:nvSpPr>
          <p:cNvPr id="20" name="Text 18"/>
          <p:cNvSpPr/>
          <p:nvPr/>
        </p:nvSpPr>
        <p:spPr>
          <a:xfrm>
            <a:off x="4800600" y="2999232"/>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price</a:t>
            </a:r>
            <a:endParaRPr lang="en-US" sz="1150" dirty="0"/>
          </a:p>
        </p:txBody>
      </p:sp>
      <p:sp>
        <p:nvSpPr>
          <p:cNvPr id="21" name="Text 19"/>
          <p:cNvSpPr/>
          <p:nvPr/>
        </p:nvSpPr>
        <p:spPr>
          <a:xfrm>
            <a:off x="4800600" y="3236976"/>
            <a:ext cx="3794760" cy="256032"/>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Prix payé, copié depuis CarNode au moment de la vente</a:t>
            </a:r>
            <a:endParaRPr lang="en-US" sz="1050" dirty="0"/>
          </a:p>
        </p:txBody>
      </p:sp>
      <p:sp>
        <p:nvSpPr>
          <p:cNvPr id="22" name="Shape 20"/>
          <p:cNvSpPr/>
          <p:nvPr/>
        </p:nvSpPr>
        <p:spPr>
          <a:xfrm>
            <a:off x="4663440" y="3621024"/>
            <a:ext cx="4069080" cy="576072"/>
          </a:xfrm>
          <a:prstGeom prst="rect">
            <a:avLst/>
          </a:prstGeom>
          <a:solidFill>
            <a:srgbClr val="FFFFFF"/>
          </a:solidFill>
          <a:ln w="12700">
            <a:solidFill>
              <a:srgbClr val="D8E3EC"/>
            </a:solidFill>
            <a:prstDash val="solid"/>
          </a:ln>
        </p:spPr>
      </p:sp>
      <p:sp>
        <p:nvSpPr>
          <p:cNvPr id="23" name="Shape 21"/>
          <p:cNvSpPr/>
          <p:nvPr/>
        </p:nvSpPr>
        <p:spPr>
          <a:xfrm>
            <a:off x="4663440" y="3621024"/>
            <a:ext cx="64008" cy="576072"/>
          </a:xfrm>
          <a:prstGeom prst="rect">
            <a:avLst/>
          </a:prstGeom>
          <a:solidFill>
            <a:srgbClr val="E74C3C"/>
          </a:solidFill>
          <a:ln w="12700">
            <a:solidFill>
              <a:srgbClr val="E74C3C"/>
            </a:solidFill>
            <a:prstDash val="solid"/>
          </a:ln>
        </p:spPr>
      </p:sp>
      <p:sp>
        <p:nvSpPr>
          <p:cNvPr id="24" name="Text 22"/>
          <p:cNvSpPr/>
          <p:nvPr/>
        </p:nvSpPr>
        <p:spPr>
          <a:xfrm>
            <a:off x="4800600" y="3657600"/>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next</a:t>
            </a:r>
            <a:endParaRPr lang="en-US" sz="1150" dirty="0"/>
          </a:p>
        </p:txBody>
      </p:sp>
      <p:sp>
        <p:nvSpPr>
          <p:cNvPr id="25" name="Text 23"/>
          <p:cNvSpPr/>
          <p:nvPr/>
        </p:nvSpPr>
        <p:spPr>
          <a:xfrm>
            <a:off x="4800600" y="3895344"/>
            <a:ext cx="3794760" cy="256032"/>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Pointeur vers la vente suivante dans la liste chaînée</a:t>
            </a:r>
            <a:endParaRPr lang="en-US" sz="1050" dirty="0"/>
          </a:p>
        </p:txBody>
      </p:sp>
      <p:sp>
        <p:nvSpPr>
          <p:cNvPr id="26" name="Shape 24"/>
          <p:cNvSpPr/>
          <p:nvPr/>
        </p:nvSpPr>
        <p:spPr>
          <a:xfrm>
            <a:off x="365760" y="4315968"/>
            <a:ext cx="8366760" cy="457200"/>
          </a:xfrm>
          <a:prstGeom prst="rect">
            <a:avLst/>
          </a:prstGeom>
          <a:solidFill>
            <a:srgbClr val="EBF2FA"/>
          </a:solidFill>
          <a:ln w="12700">
            <a:solidFill>
              <a:srgbClr val="B3CDE8"/>
            </a:solidFill>
            <a:prstDash val="solid"/>
          </a:ln>
        </p:spPr>
      </p:sp>
      <p:sp>
        <p:nvSpPr>
          <p:cNvPr id="27" name="Text 25"/>
          <p:cNvSpPr/>
          <p:nvPr/>
        </p:nvSpPr>
        <p:spPr>
          <a:xfrm>
            <a:off x="548640" y="4315968"/>
            <a:ext cx="8138160" cy="457200"/>
          </a:xfrm>
          <a:prstGeom prst="rect">
            <a:avLst/>
          </a:prstGeom>
          <a:noFill/>
          <a:ln/>
        </p:spPr>
        <p:txBody>
          <a:bodyPr wrap="square" lIns="0" tIns="0" rIns="0" bIns="0"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car_id établit le lien logique entre une vente et la voiture correspondante dans la liste CarNode.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E4A"/>
          </a:solidFill>
          <a:ln w="12700">
            <a:solidFill>
              <a:srgbClr val="1A2E4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Fonctionnalités principales</a:t>
            </a:r>
            <a:endParaRPr lang="en-US" sz="2400" dirty="0"/>
          </a:p>
        </p:txBody>
      </p:sp>
      <p:sp>
        <p:nvSpPr>
          <p:cNvPr id="4" name="Shape 2"/>
          <p:cNvSpPr/>
          <p:nvPr/>
        </p:nvSpPr>
        <p:spPr>
          <a:xfrm>
            <a:off x="365760" y="960120"/>
            <a:ext cx="4160520" cy="379476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5" name="Shape 3"/>
          <p:cNvSpPr/>
          <p:nvPr/>
        </p:nvSpPr>
        <p:spPr>
          <a:xfrm>
            <a:off x="365760" y="960120"/>
            <a:ext cx="4160520" cy="502920"/>
          </a:xfrm>
          <a:prstGeom prst="rect">
            <a:avLst/>
          </a:prstGeom>
          <a:solidFill>
            <a:srgbClr val="1A2E4A"/>
          </a:solidFill>
          <a:ln w="12700">
            <a:solidFill>
              <a:srgbClr val="1A2E4A"/>
            </a:solidFill>
            <a:prstDash val="solid"/>
          </a:ln>
        </p:spPr>
      </p:sp>
      <p:sp>
        <p:nvSpPr>
          <p:cNvPr id="6" name="Text 4"/>
          <p:cNvSpPr/>
          <p:nvPr/>
        </p:nvSpPr>
        <p:spPr>
          <a:xfrm>
            <a:off x="502920" y="960120"/>
            <a:ext cx="388620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Espace Admin</a:t>
            </a:r>
            <a:endParaRPr lang="en-US" sz="1400" dirty="0"/>
          </a:p>
        </p:txBody>
      </p:sp>
      <p:sp>
        <p:nvSpPr>
          <p:cNvPr id="7" name="Text 5"/>
          <p:cNvSpPr/>
          <p:nvPr/>
        </p:nvSpPr>
        <p:spPr>
          <a:xfrm>
            <a:off x="548640" y="1572768"/>
            <a:ext cx="3794760" cy="30175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Voir la liste des voitures disponibles</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Ajouter une nouvelle voiture au catalogue</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Supprimer une voiture par son ID</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Consulter l'historique complet des ventes</a:t>
            </a:r>
            <a:endParaRPr lang="en-US" sz="1250" dirty="0"/>
          </a:p>
        </p:txBody>
      </p:sp>
      <p:sp>
        <p:nvSpPr>
          <p:cNvPr id="8" name="Shape 6"/>
          <p:cNvSpPr/>
          <p:nvPr/>
        </p:nvSpPr>
        <p:spPr>
          <a:xfrm>
            <a:off x="4800600" y="960120"/>
            <a:ext cx="4160520" cy="379476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9" name="Shape 7"/>
          <p:cNvSpPr/>
          <p:nvPr/>
        </p:nvSpPr>
        <p:spPr>
          <a:xfrm>
            <a:off x="4800600" y="960120"/>
            <a:ext cx="4160520" cy="502920"/>
          </a:xfrm>
          <a:prstGeom prst="rect">
            <a:avLst/>
          </a:prstGeom>
          <a:solidFill>
            <a:srgbClr val="E8724A"/>
          </a:solidFill>
          <a:ln w="12700">
            <a:solidFill>
              <a:srgbClr val="E8724A"/>
            </a:solidFill>
            <a:prstDash val="solid"/>
          </a:ln>
        </p:spPr>
      </p:sp>
      <p:sp>
        <p:nvSpPr>
          <p:cNvPr id="10" name="Text 8"/>
          <p:cNvSpPr/>
          <p:nvPr/>
        </p:nvSpPr>
        <p:spPr>
          <a:xfrm>
            <a:off x="4937760" y="960120"/>
            <a:ext cx="388620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Espace Client</a:t>
            </a:r>
            <a:endParaRPr lang="en-US" sz="1400" dirty="0"/>
          </a:p>
        </p:txBody>
      </p:sp>
      <p:sp>
        <p:nvSpPr>
          <p:cNvPr id="11" name="Text 9"/>
          <p:cNvSpPr/>
          <p:nvPr/>
        </p:nvSpPr>
        <p:spPr>
          <a:xfrm>
            <a:off x="4983480" y="1572768"/>
            <a:ext cx="3794760" cy="30175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Consulter les voitures disponibles</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Acheter une voiture en saisissant son nom</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voiture est marquée indisponible après achat</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vente est automatiquement enregistrée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E4A"/>
          </a:solidFill>
          <a:ln w="12700">
            <a:solidFill>
              <a:srgbClr val="1A2E4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Architecture du programme</a:t>
            </a:r>
            <a:endParaRPr lang="en-US" sz="2400" dirty="0"/>
          </a:p>
        </p:txBody>
      </p:sp>
      <p:sp>
        <p:nvSpPr>
          <p:cNvPr id="4" name="Shape 2"/>
          <p:cNvSpPr/>
          <p:nvPr/>
        </p:nvSpPr>
        <p:spPr>
          <a:xfrm>
            <a:off x="3474720" y="914400"/>
            <a:ext cx="2194560" cy="457200"/>
          </a:xfrm>
          <a:prstGeom prst="rect">
            <a:avLst/>
          </a:prstGeom>
          <a:solidFill>
            <a:srgbClr val="1A2E4A"/>
          </a:solidFill>
          <a:ln w="12700">
            <a:solidFill>
              <a:srgbClr val="1A2E4A"/>
            </a:solidFill>
            <a:prstDash val="solid"/>
          </a:ln>
        </p:spPr>
      </p:sp>
      <p:sp>
        <p:nvSpPr>
          <p:cNvPr id="5" name="Text 3"/>
          <p:cNvSpPr/>
          <p:nvPr/>
        </p:nvSpPr>
        <p:spPr>
          <a:xfrm>
            <a:off x="3474720" y="914400"/>
            <a:ext cx="21945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main()</a:t>
            </a:r>
            <a:endParaRPr lang="en-US" sz="1300" dirty="0"/>
          </a:p>
        </p:txBody>
      </p:sp>
      <p:sp>
        <p:nvSpPr>
          <p:cNvPr id="6" name="Shape 4"/>
          <p:cNvSpPr/>
          <p:nvPr/>
        </p:nvSpPr>
        <p:spPr>
          <a:xfrm>
            <a:off x="4572000" y="1371600"/>
            <a:ext cx="0" cy="365760"/>
          </a:xfrm>
          <a:prstGeom prst="line">
            <a:avLst/>
          </a:prstGeom>
          <a:noFill/>
          <a:ln w="19050">
            <a:solidFill>
              <a:srgbClr val="6C7A89"/>
            </a:solidFill>
            <a:prstDash val="solid"/>
          </a:ln>
        </p:spPr>
      </p:sp>
      <p:sp>
        <p:nvSpPr>
          <p:cNvPr id="7" name="Shape 5"/>
          <p:cNvSpPr/>
          <p:nvPr/>
        </p:nvSpPr>
        <p:spPr>
          <a:xfrm>
            <a:off x="3108960" y="1737360"/>
            <a:ext cx="2926080" cy="457200"/>
          </a:xfrm>
          <a:prstGeom prst="rect">
            <a:avLst/>
          </a:prstGeom>
          <a:solidFill>
            <a:srgbClr val="2C3E50"/>
          </a:solidFill>
          <a:ln w="12700">
            <a:solidFill>
              <a:srgbClr val="2C3E50"/>
            </a:solidFill>
            <a:prstDash val="solid"/>
          </a:ln>
        </p:spPr>
      </p:sp>
      <p:sp>
        <p:nvSpPr>
          <p:cNvPr id="8" name="Text 6"/>
          <p:cNvSpPr/>
          <p:nvPr/>
        </p:nvSpPr>
        <p:spPr>
          <a:xfrm>
            <a:off x="3108960" y="1737360"/>
            <a:ext cx="29260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Menu principal</a:t>
            </a:r>
            <a:endParaRPr lang="en-US" sz="1200" dirty="0"/>
          </a:p>
        </p:txBody>
      </p:sp>
      <p:sp>
        <p:nvSpPr>
          <p:cNvPr id="9" name="Shape 7"/>
          <p:cNvSpPr/>
          <p:nvPr/>
        </p:nvSpPr>
        <p:spPr>
          <a:xfrm>
            <a:off x="3108960" y="1965960"/>
            <a:ext cx="0" cy="0"/>
          </a:xfrm>
          <a:prstGeom prst="line">
            <a:avLst/>
          </a:prstGeom>
          <a:noFill/>
          <a:ln w="19050">
            <a:solidFill>
              <a:srgbClr val="6C7A89"/>
            </a:solidFill>
            <a:prstDash val="solid"/>
          </a:ln>
        </p:spPr>
      </p:sp>
      <p:sp>
        <p:nvSpPr>
          <p:cNvPr id="10" name="Shape 8"/>
          <p:cNvSpPr/>
          <p:nvPr/>
        </p:nvSpPr>
        <p:spPr>
          <a:xfrm>
            <a:off x="6035040" y="1965960"/>
            <a:ext cx="1051560" cy="0"/>
          </a:xfrm>
          <a:prstGeom prst="line">
            <a:avLst/>
          </a:prstGeom>
          <a:noFill/>
          <a:ln w="19050">
            <a:solidFill>
              <a:srgbClr val="6C7A89"/>
            </a:solidFill>
            <a:prstDash val="solid"/>
          </a:ln>
        </p:spPr>
      </p:sp>
      <p:sp>
        <p:nvSpPr>
          <p:cNvPr id="11" name="Shape 9"/>
          <p:cNvSpPr/>
          <p:nvPr/>
        </p:nvSpPr>
        <p:spPr>
          <a:xfrm>
            <a:off x="914400" y="1737360"/>
            <a:ext cx="1508760" cy="457200"/>
          </a:xfrm>
          <a:prstGeom prst="rect">
            <a:avLst/>
          </a:prstGeom>
          <a:solidFill>
            <a:srgbClr val="E8724A"/>
          </a:solidFill>
          <a:ln w="12700">
            <a:solidFill>
              <a:srgbClr val="E8724A"/>
            </a:solidFill>
            <a:prstDash val="solid"/>
          </a:ln>
        </p:spPr>
      </p:sp>
      <p:sp>
        <p:nvSpPr>
          <p:cNvPr id="12" name="Text 10"/>
          <p:cNvSpPr/>
          <p:nvPr/>
        </p:nvSpPr>
        <p:spPr>
          <a:xfrm>
            <a:off x="914400" y="1737360"/>
            <a:ext cx="15087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Client</a:t>
            </a:r>
            <a:endParaRPr lang="en-US" sz="1200" dirty="0"/>
          </a:p>
        </p:txBody>
      </p:sp>
      <p:sp>
        <p:nvSpPr>
          <p:cNvPr id="13" name="Shape 11"/>
          <p:cNvSpPr/>
          <p:nvPr/>
        </p:nvSpPr>
        <p:spPr>
          <a:xfrm>
            <a:off x="6720840" y="1737360"/>
            <a:ext cx="1508760" cy="457200"/>
          </a:xfrm>
          <a:prstGeom prst="rect">
            <a:avLst/>
          </a:prstGeom>
          <a:solidFill>
            <a:srgbClr val="1A2E4A"/>
          </a:solidFill>
          <a:ln w="12700">
            <a:solidFill>
              <a:srgbClr val="1A2E4A"/>
            </a:solidFill>
            <a:prstDash val="solid"/>
          </a:ln>
        </p:spPr>
      </p:sp>
      <p:sp>
        <p:nvSpPr>
          <p:cNvPr id="14" name="Text 12"/>
          <p:cNvSpPr/>
          <p:nvPr/>
        </p:nvSpPr>
        <p:spPr>
          <a:xfrm>
            <a:off x="6720840" y="1737360"/>
            <a:ext cx="15087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Admin</a:t>
            </a:r>
            <a:endParaRPr lang="en-US" sz="1200" dirty="0"/>
          </a:p>
        </p:txBody>
      </p:sp>
      <p:sp>
        <p:nvSpPr>
          <p:cNvPr id="15" name="Shape 13"/>
          <p:cNvSpPr/>
          <p:nvPr/>
        </p:nvSpPr>
        <p:spPr>
          <a:xfrm>
            <a:off x="1668780" y="2194560"/>
            <a:ext cx="0" cy="457200"/>
          </a:xfrm>
          <a:prstGeom prst="line">
            <a:avLst/>
          </a:prstGeom>
          <a:noFill/>
          <a:ln w="19050">
            <a:solidFill>
              <a:srgbClr val="6C7A89"/>
            </a:solidFill>
            <a:prstDash val="solid"/>
          </a:ln>
        </p:spPr>
      </p:sp>
      <p:sp>
        <p:nvSpPr>
          <p:cNvPr id="16" name="Shape 14"/>
          <p:cNvSpPr/>
          <p:nvPr/>
        </p:nvSpPr>
        <p:spPr>
          <a:xfrm>
            <a:off x="822960" y="2651760"/>
            <a:ext cx="1691640" cy="457200"/>
          </a:xfrm>
          <a:prstGeom prst="rect">
            <a:avLst/>
          </a:prstGeom>
          <a:solidFill>
            <a:srgbClr val="F0956F"/>
          </a:solidFill>
          <a:ln w="12700">
            <a:solidFill>
              <a:srgbClr val="F0956F"/>
            </a:solidFill>
            <a:prstDash val="solid"/>
          </a:ln>
        </p:spPr>
      </p:sp>
      <p:sp>
        <p:nvSpPr>
          <p:cNvPr id="17" name="Text 15"/>
          <p:cNvSpPr/>
          <p:nvPr/>
        </p:nvSpPr>
        <p:spPr>
          <a:xfrm>
            <a:off x="822960" y="2651760"/>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Voir voitures</a:t>
            </a:r>
            <a:endParaRPr lang="en-US" sz="1000" dirty="0"/>
          </a:p>
        </p:txBody>
      </p:sp>
      <p:sp>
        <p:nvSpPr>
          <p:cNvPr id="18" name="Shape 16"/>
          <p:cNvSpPr/>
          <p:nvPr/>
        </p:nvSpPr>
        <p:spPr>
          <a:xfrm>
            <a:off x="1668780" y="2194560"/>
            <a:ext cx="0" cy="1051560"/>
          </a:xfrm>
          <a:prstGeom prst="line">
            <a:avLst/>
          </a:prstGeom>
          <a:noFill/>
          <a:ln w="19050">
            <a:solidFill>
              <a:srgbClr val="6C7A89"/>
            </a:solidFill>
            <a:prstDash val="solid"/>
          </a:ln>
        </p:spPr>
      </p:sp>
      <p:sp>
        <p:nvSpPr>
          <p:cNvPr id="19" name="Shape 17"/>
          <p:cNvSpPr/>
          <p:nvPr/>
        </p:nvSpPr>
        <p:spPr>
          <a:xfrm>
            <a:off x="822960" y="3246120"/>
            <a:ext cx="1691640" cy="457200"/>
          </a:xfrm>
          <a:prstGeom prst="rect">
            <a:avLst/>
          </a:prstGeom>
          <a:solidFill>
            <a:srgbClr val="F0956F"/>
          </a:solidFill>
          <a:ln w="12700">
            <a:solidFill>
              <a:srgbClr val="F0956F"/>
            </a:solidFill>
            <a:prstDash val="solid"/>
          </a:ln>
        </p:spPr>
      </p:sp>
      <p:sp>
        <p:nvSpPr>
          <p:cNvPr id="20" name="Text 18"/>
          <p:cNvSpPr/>
          <p:nvPr/>
        </p:nvSpPr>
        <p:spPr>
          <a:xfrm>
            <a:off x="822960" y="3246120"/>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Acheter</a:t>
            </a:r>
            <a:endParaRPr lang="en-US" sz="1000" dirty="0"/>
          </a:p>
        </p:txBody>
      </p:sp>
      <p:sp>
        <p:nvSpPr>
          <p:cNvPr id="21" name="Shape 19"/>
          <p:cNvSpPr/>
          <p:nvPr/>
        </p:nvSpPr>
        <p:spPr>
          <a:xfrm>
            <a:off x="7475220" y="2194560"/>
            <a:ext cx="0" cy="274320"/>
          </a:xfrm>
          <a:prstGeom prst="line">
            <a:avLst/>
          </a:prstGeom>
          <a:noFill/>
          <a:ln w="19050">
            <a:solidFill>
              <a:srgbClr val="6C7A89"/>
            </a:solidFill>
            <a:prstDash val="solid"/>
          </a:ln>
        </p:spPr>
      </p:sp>
      <p:sp>
        <p:nvSpPr>
          <p:cNvPr id="22" name="Shape 20"/>
          <p:cNvSpPr/>
          <p:nvPr/>
        </p:nvSpPr>
        <p:spPr>
          <a:xfrm>
            <a:off x="6629400" y="2468880"/>
            <a:ext cx="1691640" cy="457200"/>
          </a:xfrm>
          <a:prstGeom prst="rect">
            <a:avLst/>
          </a:prstGeom>
          <a:solidFill>
            <a:srgbClr val="2E6DA4"/>
          </a:solidFill>
          <a:ln w="12700">
            <a:solidFill>
              <a:srgbClr val="2E6DA4"/>
            </a:solidFill>
            <a:prstDash val="solid"/>
          </a:ln>
        </p:spPr>
      </p:sp>
      <p:sp>
        <p:nvSpPr>
          <p:cNvPr id="23" name="Text 21"/>
          <p:cNvSpPr/>
          <p:nvPr/>
        </p:nvSpPr>
        <p:spPr>
          <a:xfrm>
            <a:off x="6629400" y="2468880"/>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Voir voitures</a:t>
            </a:r>
            <a:endParaRPr lang="en-US" sz="1000" dirty="0"/>
          </a:p>
        </p:txBody>
      </p:sp>
      <p:sp>
        <p:nvSpPr>
          <p:cNvPr id="24" name="Shape 22"/>
          <p:cNvSpPr/>
          <p:nvPr/>
        </p:nvSpPr>
        <p:spPr>
          <a:xfrm>
            <a:off x="7475220" y="2194560"/>
            <a:ext cx="0" cy="841248"/>
          </a:xfrm>
          <a:prstGeom prst="line">
            <a:avLst/>
          </a:prstGeom>
          <a:noFill/>
          <a:ln w="19050">
            <a:solidFill>
              <a:srgbClr val="6C7A89"/>
            </a:solidFill>
            <a:prstDash val="solid"/>
          </a:ln>
        </p:spPr>
      </p:sp>
      <p:sp>
        <p:nvSpPr>
          <p:cNvPr id="25" name="Shape 23"/>
          <p:cNvSpPr/>
          <p:nvPr/>
        </p:nvSpPr>
        <p:spPr>
          <a:xfrm>
            <a:off x="6629400" y="3035808"/>
            <a:ext cx="1691640" cy="457200"/>
          </a:xfrm>
          <a:prstGeom prst="rect">
            <a:avLst/>
          </a:prstGeom>
          <a:solidFill>
            <a:srgbClr val="2E6DA4"/>
          </a:solidFill>
          <a:ln w="12700">
            <a:solidFill>
              <a:srgbClr val="2E6DA4"/>
            </a:solidFill>
            <a:prstDash val="solid"/>
          </a:ln>
        </p:spPr>
      </p:sp>
      <p:sp>
        <p:nvSpPr>
          <p:cNvPr id="26" name="Text 24"/>
          <p:cNvSpPr/>
          <p:nvPr/>
        </p:nvSpPr>
        <p:spPr>
          <a:xfrm>
            <a:off x="6629400" y="3035808"/>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Ajouter</a:t>
            </a:r>
            <a:endParaRPr lang="en-US" sz="1000" dirty="0"/>
          </a:p>
        </p:txBody>
      </p:sp>
      <p:sp>
        <p:nvSpPr>
          <p:cNvPr id="27" name="Shape 25"/>
          <p:cNvSpPr/>
          <p:nvPr/>
        </p:nvSpPr>
        <p:spPr>
          <a:xfrm>
            <a:off x="7475220" y="2194560"/>
            <a:ext cx="0" cy="1408176"/>
          </a:xfrm>
          <a:prstGeom prst="line">
            <a:avLst/>
          </a:prstGeom>
          <a:noFill/>
          <a:ln w="19050">
            <a:solidFill>
              <a:srgbClr val="6C7A89"/>
            </a:solidFill>
            <a:prstDash val="solid"/>
          </a:ln>
        </p:spPr>
      </p:sp>
      <p:sp>
        <p:nvSpPr>
          <p:cNvPr id="28" name="Shape 26"/>
          <p:cNvSpPr/>
          <p:nvPr/>
        </p:nvSpPr>
        <p:spPr>
          <a:xfrm>
            <a:off x="6629400" y="3602736"/>
            <a:ext cx="1691640" cy="457200"/>
          </a:xfrm>
          <a:prstGeom prst="rect">
            <a:avLst/>
          </a:prstGeom>
          <a:solidFill>
            <a:srgbClr val="2E6DA4"/>
          </a:solidFill>
          <a:ln w="12700">
            <a:solidFill>
              <a:srgbClr val="2E6DA4"/>
            </a:solidFill>
            <a:prstDash val="solid"/>
          </a:ln>
        </p:spPr>
      </p:sp>
      <p:sp>
        <p:nvSpPr>
          <p:cNvPr id="29" name="Text 27"/>
          <p:cNvSpPr/>
          <p:nvPr/>
        </p:nvSpPr>
        <p:spPr>
          <a:xfrm>
            <a:off x="6629400" y="3602736"/>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Supprimer</a:t>
            </a:r>
            <a:endParaRPr lang="en-US" sz="1000" dirty="0"/>
          </a:p>
        </p:txBody>
      </p:sp>
      <p:sp>
        <p:nvSpPr>
          <p:cNvPr id="30" name="Shape 28"/>
          <p:cNvSpPr/>
          <p:nvPr/>
        </p:nvSpPr>
        <p:spPr>
          <a:xfrm>
            <a:off x="7475220" y="2194560"/>
            <a:ext cx="0" cy="1975104"/>
          </a:xfrm>
          <a:prstGeom prst="line">
            <a:avLst/>
          </a:prstGeom>
          <a:noFill/>
          <a:ln w="19050">
            <a:solidFill>
              <a:srgbClr val="6C7A89"/>
            </a:solidFill>
            <a:prstDash val="solid"/>
          </a:ln>
        </p:spPr>
      </p:sp>
      <p:sp>
        <p:nvSpPr>
          <p:cNvPr id="31" name="Shape 29"/>
          <p:cNvSpPr/>
          <p:nvPr/>
        </p:nvSpPr>
        <p:spPr>
          <a:xfrm>
            <a:off x="6629400" y="4169664"/>
            <a:ext cx="1691640" cy="457200"/>
          </a:xfrm>
          <a:prstGeom prst="rect">
            <a:avLst/>
          </a:prstGeom>
          <a:solidFill>
            <a:srgbClr val="2E6DA4"/>
          </a:solidFill>
          <a:ln w="12700">
            <a:solidFill>
              <a:srgbClr val="2E6DA4"/>
            </a:solidFill>
            <a:prstDash val="solid"/>
          </a:ln>
        </p:spPr>
      </p:sp>
      <p:sp>
        <p:nvSpPr>
          <p:cNvPr id="32" name="Text 30"/>
          <p:cNvSpPr/>
          <p:nvPr/>
        </p:nvSpPr>
        <p:spPr>
          <a:xfrm>
            <a:off x="6629400" y="4169664"/>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Ventes</a:t>
            </a:r>
            <a:endParaRPr lang="en-US" sz="1000" dirty="0"/>
          </a:p>
        </p:txBody>
      </p:sp>
      <p:sp>
        <p:nvSpPr>
          <p:cNvPr id="33" name="Shape 31"/>
          <p:cNvSpPr/>
          <p:nvPr/>
        </p:nvSpPr>
        <p:spPr>
          <a:xfrm>
            <a:off x="3246120" y="2788920"/>
            <a:ext cx="2651760" cy="1417320"/>
          </a:xfrm>
          <a:prstGeom prst="rect">
            <a:avLst/>
          </a:prstGeom>
          <a:solidFill>
            <a:srgbClr val="EBF2FA"/>
          </a:solidFill>
          <a:ln w="12700">
            <a:solidFill>
              <a:srgbClr val="B3CDE8"/>
            </a:solidFill>
            <a:prstDash val="solid"/>
          </a:ln>
        </p:spPr>
      </p:sp>
      <p:sp>
        <p:nvSpPr>
          <p:cNvPr id="34" name="Text 32"/>
          <p:cNvSpPr/>
          <p:nvPr/>
        </p:nvSpPr>
        <p:spPr>
          <a:xfrm>
            <a:off x="3291840" y="2816352"/>
            <a:ext cx="2560320" cy="274320"/>
          </a:xfrm>
          <a:prstGeom prst="rect">
            <a:avLst/>
          </a:prstGeom>
          <a:noFill/>
          <a:ln/>
        </p:spPr>
        <p:txBody>
          <a:bodyPr wrap="square" lIns="0" tIns="0" rIns="0" bIns="0" rtlCol="0" anchor="ctr"/>
          <a:lstStyle/>
          <a:p>
            <a:pPr marL="0" indent="0" algn="ctr">
              <a:buNone/>
            </a:pPr>
            <a:r>
              <a:rPr lang="en-US" sz="1100" b="1" dirty="0">
                <a:solidFill>
                  <a:srgbClr val="1A2E4A"/>
                </a:solidFill>
                <a:latin typeface="Calibri" pitchFamily="34" charset="0"/>
                <a:ea typeface="Calibri" pitchFamily="34" charset="-122"/>
                <a:cs typeface="Calibri" pitchFamily="34" charset="-120"/>
              </a:rPr>
              <a:t>Données partagées</a:t>
            </a:r>
            <a:endParaRPr lang="en-US" sz="1100" dirty="0"/>
          </a:p>
        </p:txBody>
      </p:sp>
      <p:sp>
        <p:nvSpPr>
          <p:cNvPr id="35" name="Text 33"/>
          <p:cNvSpPr/>
          <p:nvPr/>
        </p:nvSpPr>
        <p:spPr>
          <a:xfrm>
            <a:off x="3291840" y="3127248"/>
            <a:ext cx="2560320" cy="1005840"/>
          </a:xfrm>
          <a:prstGeom prst="rect">
            <a:avLst/>
          </a:prstGeom>
          <a:noFill/>
          <a:ln/>
        </p:spPr>
        <p:txBody>
          <a:bodyPr wrap="square" lIns="0" tIns="0" rIns="0" bIns="0" rtlCol="0" anchor="ctr"/>
          <a:lstStyle/>
          <a:p>
            <a:pPr marL="0" indent="0" algn="ctr">
              <a:buNone/>
            </a:pPr>
            <a:r>
              <a:rPr lang="en-US" sz="1050" dirty="0">
                <a:solidFill>
                  <a:srgbClr val="2C3E50"/>
                </a:solidFill>
                <a:latin typeface="Consolas" pitchFamily="34" charset="0"/>
                <a:ea typeface="Consolas" pitchFamily="34" charset="-122"/>
                <a:cs typeface="Consolas" pitchFamily="34" charset="-120"/>
              </a:rPr>
              <a:t>Liste cars* (CarNode)</a:t>
            </a:r>
            <a:endParaRPr lang="en-US" sz="1050" dirty="0"/>
          </a:p>
          <a:p>
            <a:pPr marL="0" indent="0" algn="ctr">
              <a:buNone/>
            </a:pPr>
            <a:r>
              <a:rPr lang="en-US" sz="1050" dirty="0">
                <a:solidFill>
                  <a:srgbClr val="2C3E50"/>
                </a:solidFill>
                <a:latin typeface="Consolas" pitchFamily="34" charset="0"/>
                <a:ea typeface="Consolas" pitchFamily="34" charset="-122"/>
                <a:cs typeface="Consolas" pitchFamily="34" charset="-120"/>
              </a:rPr>
              <a:t>Liste sales* (SaleNode)</a:t>
            </a:r>
            <a:endParaRPr lang="en-US" sz="1050" dirty="0"/>
          </a:p>
          <a:p>
            <a:pPr marL="0" indent="0" algn="ctr">
              <a:buNone/>
            </a:pPr>
            <a:r>
              <a:rPr lang="en-US" sz="1050" dirty="0">
                <a:solidFill>
                  <a:srgbClr val="2C3E50"/>
                </a:solidFill>
                <a:latin typeface="Consolas" pitchFamily="34" charset="0"/>
                <a:ea typeface="Consolas" pitchFamily="34" charset="-122"/>
                <a:cs typeface="Consolas" pitchFamily="34" charset="-120"/>
              </a:rPr>
              <a:t>car_count, sale_count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24A"/>
          </a:solidFill>
          <a:ln w="12700">
            <a:solidFill>
              <a:srgbClr val="E8724A"/>
            </a:solidFill>
            <a:prstDash val="solid"/>
          </a:ln>
        </p:spPr>
      </p:sp>
      <p:sp>
        <p:nvSpPr>
          <p:cNvPr id="3" name="Text 1"/>
          <p:cNvSpPr/>
          <p:nvPr/>
        </p:nvSpPr>
        <p:spPr>
          <a:xfrm>
            <a:off x="457200" y="640080"/>
            <a:ext cx="841248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Ce que ce projet démontre</a:t>
            </a:r>
            <a:endParaRPr lang="en-US" sz="2800" dirty="0"/>
          </a:p>
        </p:txBody>
      </p:sp>
      <p:sp>
        <p:nvSpPr>
          <p:cNvPr id="4" name="Shape 2"/>
          <p:cNvSpPr/>
          <p:nvPr/>
        </p:nvSpPr>
        <p:spPr>
          <a:xfrm>
            <a:off x="457200" y="1463040"/>
            <a:ext cx="3977640" cy="1325880"/>
          </a:xfrm>
          <a:prstGeom prst="rect">
            <a:avLst/>
          </a:prstGeom>
          <a:solidFill>
            <a:srgbClr val="243B55"/>
          </a:solidFill>
          <a:ln w="12700">
            <a:solidFill>
              <a:srgbClr val="2D5279"/>
            </a:solidFill>
            <a:prstDash val="solid"/>
          </a:ln>
        </p:spPr>
      </p:sp>
      <p:sp>
        <p:nvSpPr>
          <p:cNvPr id="5" name="Text 3"/>
          <p:cNvSpPr/>
          <p:nvPr/>
        </p:nvSpPr>
        <p:spPr>
          <a:xfrm>
            <a:off x="566928" y="1572768"/>
            <a:ext cx="50292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6" name="Text 4"/>
          <p:cNvSpPr/>
          <p:nvPr/>
        </p:nvSpPr>
        <p:spPr>
          <a:xfrm>
            <a:off x="1170432" y="1572768"/>
            <a:ext cx="3154680" cy="347472"/>
          </a:xfrm>
          <a:prstGeom prst="rect">
            <a:avLst/>
          </a:prstGeom>
          <a:noFill/>
          <a:ln/>
        </p:spPr>
        <p:txBody>
          <a:bodyPr wrap="square" lIns="0" tIns="0" rIns="0" bIns="0" rtlCol="0" anchor="ctr"/>
          <a:lstStyle/>
          <a:p>
            <a:pPr marL="0" indent="0">
              <a:buNone/>
            </a:pPr>
            <a:r>
              <a:rPr lang="en-US" sz="1300" b="1" dirty="0">
                <a:solidFill>
                  <a:srgbClr val="E8724A"/>
                </a:solidFill>
                <a:latin typeface="Calibri" pitchFamily="34" charset="0"/>
                <a:ea typeface="Calibri" pitchFamily="34" charset="-122"/>
                <a:cs typeface="Calibri" pitchFamily="34" charset="-120"/>
              </a:rPr>
              <a:t>Listes chaînées</a:t>
            </a:r>
            <a:endParaRPr lang="en-US" sz="1300" dirty="0"/>
          </a:p>
        </p:txBody>
      </p:sp>
      <p:sp>
        <p:nvSpPr>
          <p:cNvPr id="7" name="Text 5"/>
          <p:cNvSpPr/>
          <p:nvPr/>
        </p:nvSpPr>
        <p:spPr>
          <a:xfrm>
            <a:off x="1170432" y="1938528"/>
            <a:ext cx="3154680" cy="713232"/>
          </a:xfrm>
          <a:prstGeom prst="rect">
            <a:avLst/>
          </a:prstGeom>
          <a:noFill/>
          <a:ln/>
        </p:spPr>
        <p:txBody>
          <a:bodyPr wrap="square" lIns="0" tIns="0" rIns="0" bIns="0" rtlCol="0" anchor="ctr"/>
          <a:lstStyle/>
          <a:p>
            <a:pPr marL="0" indent="0">
              <a:buNone/>
            </a:pPr>
            <a:r>
              <a:rPr lang="en-US" sz="1150" dirty="0">
                <a:solidFill>
                  <a:srgbClr val="A8BDD0"/>
                </a:solidFill>
                <a:latin typeface="Calibri" pitchFamily="34" charset="0"/>
                <a:ea typeface="Calibri" pitchFamily="34" charset="-122"/>
                <a:cs typeface="Calibri" pitchFamily="34" charset="-120"/>
              </a:rPr>
              <a:t>Deux listes dynamiques indépendantes mais liées par car_id</a:t>
            </a:r>
            <a:endParaRPr lang="en-US" sz="1150" dirty="0"/>
          </a:p>
        </p:txBody>
      </p:sp>
      <p:sp>
        <p:nvSpPr>
          <p:cNvPr id="8" name="Shape 6"/>
          <p:cNvSpPr/>
          <p:nvPr/>
        </p:nvSpPr>
        <p:spPr>
          <a:xfrm>
            <a:off x="4800600" y="1463040"/>
            <a:ext cx="3977640" cy="1325880"/>
          </a:xfrm>
          <a:prstGeom prst="rect">
            <a:avLst/>
          </a:prstGeom>
          <a:solidFill>
            <a:srgbClr val="243B55"/>
          </a:solidFill>
          <a:ln w="12700">
            <a:solidFill>
              <a:srgbClr val="2D5279"/>
            </a:solidFill>
            <a:prstDash val="solid"/>
          </a:ln>
        </p:spPr>
      </p:sp>
      <p:sp>
        <p:nvSpPr>
          <p:cNvPr id="9" name="Text 7"/>
          <p:cNvSpPr/>
          <p:nvPr/>
        </p:nvSpPr>
        <p:spPr>
          <a:xfrm>
            <a:off x="4910328" y="1572768"/>
            <a:ext cx="50292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0" name="Text 8"/>
          <p:cNvSpPr/>
          <p:nvPr/>
        </p:nvSpPr>
        <p:spPr>
          <a:xfrm>
            <a:off x="5513832" y="1572768"/>
            <a:ext cx="3154680" cy="347472"/>
          </a:xfrm>
          <a:prstGeom prst="rect">
            <a:avLst/>
          </a:prstGeom>
          <a:noFill/>
          <a:ln/>
        </p:spPr>
        <p:txBody>
          <a:bodyPr wrap="square" lIns="0" tIns="0" rIns="0" bIns="0" rtlCol="0" anchor="ctr"/>
          <a:lstStyle/>
          <a:p>
            <a:pPr marL="0" indent="0">
              <a:buNone/>
            </a:pPr>
            <a:r>
              <a:rPr lang="en-US" sz="1300" b="1" dirty="0">
                <a:solidFill>
                  <a:srgbClr val="E8724A"/>
                </a:solidFill>
                <a:latin typeface="Calibri" pitchFamily="34" charset="0"/>
                <a:ea typeface="Calibri" pitchFamily="34" charset="-122"/>
                <a:cs typeface="Calibri" pitchFamily="34" charset="-120"/>
              </a:rPr>
              <a:t>Structures imbriquées</a:t>
            </a:r>
            <a:endParaRPr lang="en-US" sz="1300" dirty="0"/>
          </a:p>
        </p:txBody>
      </p:sp>
      <p:sp>
        <p:nvSpPr>
          <p:cNvPr id="11" name="Text 9"/>
          <p:cNvSpPr/>
          <p:nvPr/>
        </p:nvSpPr>
        <p:spPr>
          <a:xfrm>
            <a:off x="5513832" y="1938528"/>
            <a:ext cx="3154680" cy="713232"/>
          </a:xfrm>
          <a:prstGeom prst="rect">
            <a:avLst/>
          </a:prstGeom>
          <a:noFill/>
          <a:ln/>
        </p:spPr>
        <p:txBody>
          <a:bodyPr wrap="square" lIns="0" tIns="0" rIns="0" bIns="0" rtlCol="0" anchor="ctr"/>
          <a:lstStyle/>
          <a:p>
            <a:pPr marL="0" indent="0">
              <a:buNone/>
            </a:pPr>
            <a:r>
              <a:rPr lang="en-US" sz="1150" dirty="0">
                <a:solidFill>
                  <a:srgbClr val="A8BDD0"/>
                </a:solidFill>
                <a:latin typeface="Calibri" pitchFamily="34" charset="0"/>
                <a:ea typeface="Calibri" pitchFamily="34" charset="-122"/>
                <a:cs typeface="Calibri" pitchFamily="34" charset="-120"/>
              </a:rPr>
              <a:t>Pointeur self-référentiel (next) pour chaîner les nœuds</a:t>
            </a:r>
            <a:endParaRPr lang="en-US" sz="1150" dirty="0"/>
          </a:p>
        </p:txBody>
      </p:sp>
      <p:sp>
        <p:nvSpPr>
          <p:cNvPr id="12" name="Shape 10"/>
          <p:cNvSpPr/>
          <p:nvPr/>
        </p:nvSpPr>
        <p:spPr>
          <a:xfrm>
            <a:off x="457200" y="2971800"/>
            <a:ext cx="3977640" cy="1325880"/>
          </a:xfrm>
          <a:prstGeom prst="rect">
            <a:avLst/>
          </a:prstGeom>
          <a:solidFill>
            <a:srgbClr val="243B55"/>
          </a:solidFill>
          <a:ln w="12700">
            <a:solidFill>
              <a:srgbClr val="2D5279"/>
            </a:solidFill>
            <a:prstDash val="solid"/>
          </a:ln>
        </p:spPr>
      </p:sp>
      <p:sp>
        <p:nvSpPr>
          <p:cNvPr id="13" name="Text 11"/>
          <p:cNvSpPr/>
          <p:nvPr/>
        </p:nvSpPr>
        <p:spPr>
          <a:xfrm>
            <a:off x="566928" y="3081528"/>
            <a:ext cx="50292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4" name="Text 12"/>
          <p:cNvSpPr/>
          <p:nvPr/>
        </p:nvSpPr>
        <p:spPr>
          <a:xfrm>
            <a:off x="1170432" y="3081528"/>
            <a:ext cx="3154680" cy="347472"/>
          </a:xfrm>
          <a:prstGeom prst="rect">
            <a:avLst/>
          </a:prstGeom>
          <a:noFill/>
          <a:ln/>
        </p:spPr>
        <p:txBody>
          <a:bodyPr wrap="square" lIns="0" tIns="0" rIns="0" bIns="0" rtlCol="0" anchor="ctr"/>
          <a:lstStyle/>
          <a:p>
            <a:pPr marL="0" indent="0">
              <a:buNone/>
            </a:pPr>
            <a:r>
              <a:rPr lang="en-US" sz="1300" b="1" dirty="0">
                <a:solidFill>
                  <a:srgbClr val="E8724A"/>
                </a:solidFill>
                <a:latin typeface="Calibri" pitchFamily="34" charset="0"/>
                <a:ea typeface="Calibri" pitchFamily="34" charset="-122"/>
                <a:cs typeface="Calibri" pitchFamily="34" charset="-120"/>
              </a:rPr>
              <a:t>Gestion des rôles</a:t>
            </a:r>
            <a:endParaRPr lang="en-US" sz="1300" dirty="0"/>
          </a:p>
        </p:txBody>
      </p:sp>
      <p:sp>
        <p:nvSpPr>
          <p:cNvPr id="15" name="Text 13"/>
          <p:cNvSpPr/>
          <p:nvPr/>
        </p:nvSpPr>
        <p:spPr>
          <a:xfrm>
            <a:off x="1170432" y="3447288"/>
            <a:ext cx="3154680" cy="713232"/>
          </a:xfrm>
          <a:prstGeom prst="rect">
            <a:avLst/>
          </a:prstGeom>
          <a:noFill/>
          <a:ln/>
        </p:spPr>
        <p:txBody>
          <a:bodyPr wrap="square" lIns="0" tIns="0" rIns="0" bIns="0" rtlCol="0" anchor="ctr"/>
          <a:lstStyle/>
          <a:p>
            <a:pPr marL="0" indent="0">
              <a:buNone/>
            </a:pPr>
            <a:r>
              <a:rPr lang="en-US" sz="1150" dirty="0">
                <a:solidFill>
                  <a:srgbClr val="A8BDD0"/>
                </a:solidFill>
                <a:latin typeface="Calibri" pitchFamily="34" charset="0"/>
                <a:ea typeface="Calibri" pitchFamily="34" charset="-122"/>
                <a:cs typeface="Calibri" pitchFamily="34" charset="-120"/>
              </a:rPr>
              <a:t>Séparation claire entre les menus Admin et Client</a:t>
            </a:r>
            <a:endParaRPr lang="en-US" sz="1150" dirty="0"/>
          </a:p>
        </p:txBody>
      </p:sp>
      <p:sp>
        <p:nvSpPr>
          <p:cNvPr id="16" name="Shape 14"/>
          <p:cNvSpPr/>
          <p:nvPr/>
        </p:nvSpPr>
        <p:spPr>
          <a:xfrm>
            <a:off x="4800600" y="2971800"/>
            <a:ext cx="3977640" cy="1325880"/>
          </a:xfrm>
          <a:prstGeom prst="rect">
            <a:avLst/>
          </a:prstGeom>
          <a:solidFill>
            <a:srgbClr val="243B55"/>
          </a:solidFill>
          <a:ln w="12700">
            <a:solidFill>
              <a:srgbClr val="2D5279"/>
            </a:solidFill>
            <a:prstDash val="solid"/>
          </a:ln>
        </p:spPr>
      </p:sp>
      <p:sp>
        <p:nvSpPr>
          <p:cNvPr id="17" name="Text 15"/>
          <p:cNvSpPr/>
          <p:nvPr/>
        </p:nvSpPr>
        <p:spPr>
          <a:xfrm>
            <a:off x="4910328" y="3081528"/>
            <a:ext cx="50292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5513832" y="3081528"/>
            <a:ext cx="3154680" cy="347472"/>
          </a:xfrm>
          <a:prstGeom prst="rect">
            <a:avLst/>
          </a:prstGeom>
          <a:noFill/>
          <a:ln/>
        </p:spPr>
        <p:txBody>
          <a:bodyPr wrap="square" lIns="0" tIns="0" rIns="0" bIns="0" rtlCol="0" anchor="ctr"/>
          <a:lstStyle/>
          <a:p>
            <a:pPr marL="0" indent="0">
              <a:buNone/>
            </a:pPr>
            <a:r>
              <a:rPr lang="en-US" sz="1300" b="1" dirty="0">
                <a:solidFill>
                  <a:srgbClr val="E8724A"/>
                </a:solidFill>
                <a:latin typeface="Calibri" pitchFamily="34" charset="0"/>
                <a:ea typeface="Calibri" pitchFamily="34" charset="-122"/>
                <a:cs typeface="Calibri" pitchFamily="34" charset="-120"/>
              </a:rPr>
              <a:t>Mémoire dynamique</a:t>
            </a:r>
            <a:endParaRPr lang="en-US" sz="1300" dirty="0"/>
          </a:p>
        </p:txBody>
      </p:sp>
      <p:sp>
        <p:nvSpPr>
          <p:cNvPr id="19" name="Text 17"/>
          <p:cNvSpPr/>
          <p:nvPr/>
        </p:nvSpPr>
        <p:spPr>
          <a:xfrm>
            <a:off x="5513832" y="3447288"/>
            <a:ext cx="3154680" cy="713232"/>
          </a:xfrm>
          <a:prstGeom prst="rect">
            <a:avLst/>
          </a:prstGeom>
          <a:noFill/>
          <a:ln/>
        </p:spPr>
        <p:txBody>
          <a:bodyPr wrap="square" lIns="0" tIns="0" rIns="0" bIns="0" rtlCol="0" anchor="ctr"/>
          <a:lstStyle/>
          <a:p>
            <a:pPr marL="0" indent="0">
              <a:buNone/>
            </a:pPr>
            <a:r>
              <a:rPr lang="en-US" sz="1150" dirty="0">
                <a:solidFill>
                  <a:srgbClr val="A8BDD0"/>
                </a:solidFill>
                <a:latin typeface="Calibri" pitchFamily="34" charset="0"/>
                <a:ea typeface="Calibri" pitchFamily="34" charset="-122"/>
                <a:cs typeface="Calibri" pitchFamily="34" charset="-120"/>
              </a:rPr>
              <a:t>malloc() pour chaque nœud créé, libéré avec free()</a:t>
            </a:r>
            <a:endParaRPr lang="en-US" sz="1150" dirty="0"/>
          </a:p>
        </p:txBody>
      </p:sp>
      <p:sp>
        <p:nvSpPr>
          <p:cNvPr id="20" name="Text 18"/>
          <p:cNvSpPr/>
          <p:nvPr/>
        </p:nvSpPr>
        <p:spPr>
          <a:xfrm>
            <a:off x="457200" y="4663440"/>
            <a:ext cx="8229600" cy="320040"/>
          </a:xfrm>
          <a:prstGeom prst="rect">
            <a:avLst/>
          </a:prstGeom>
          <a:noFill/>
          <a:ln/>
        </p:spPr>
        <p:txBody>
          <a:bodyPr wrap="square" lIns="0" tIns="0" rIns="0" bIns="0" rtlCol="0" anchor="ctr"/>
          <a:lstStyle/>
          <a:p>
            <a:pPr marL="0" indent="0" algn="l">
              <a:buNone/>
            </a:pPr>
            <a:r>
              <a:rPr lang="en-US" sz="1050" dirty="0">
                <a:solidFill>
                  <a:srgbClr val="4A6D8C"/>
                </a:solidFill>
                <a:latin typeface="Calibri" pitchFamily="34" charset="0"/>
                <a:ea typeface="Calibri" pitchFamily="34" charset="-122"/>
                <a:cs typeface="Calibri" pitchFamily="34" charset="-120"/>
              </a:rPr>
              <a:t>Projet réalisé en C · Structures de données · Programmation procédurale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508</Words>
  <Application>Microsoft Office PowerPoint</Application>
  <PresentationFormat>Affichage à l'écran (16:9)</PresentationFormat>
  <Paragraphs>104</Paragraphs>
  <Slides>7</Slides>
  <Notes>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Vente de Voitures</dc:title>
  <dc:subject>PptxGenJS Presentation</dc:subject>
  <dc:creator>PptxGenJS</dc:creator>
  <cp:lastModifiedBy>adem mh</cp:lastModifiedBy>
  <cp:revision>1</cp:revision>
  <dcterms:created xsi:type="dcterms:W3CDTF">2026-04-25T17:25:12Z</dcterms:created>
  <dcterms:modified xsi:type="dcterms:W3CDTF">2026-04-25T17:30:17Z</dcterms:modified>
</cp:coreProperties>
</file>